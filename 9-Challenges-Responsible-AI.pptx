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b3064c75e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6b3064c75e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b3064c75e_0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6b3064c75e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b3064c75e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6b3064c75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b3064c75e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6b3064c75e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b3064c75e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6b3064c75e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b3064c75e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6b3064c75e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b3bed2b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6b3bed2b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b3064c75e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6b3064c75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b3064c75e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6b3064c75e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b38aedd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6b38aedd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2" y="841771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1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2" y="2701531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1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2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2" y="27384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2" y="1369220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2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286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028952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4579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23885" y="1282301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623885" y="3442099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98989"/>
              </a:buClr>
              <a:buSzPts val="1800"/>
              <a:buNone/>
              <a:defRPr sz="1800">
                <a:solidFill>
                  <a:srgbClr val="898989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286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028952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4579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28652" y="27384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628652" y="1369220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29150" y="1369220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6286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028952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4579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629838" y="27384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629838" y="1260870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b="1" sz="18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629838" y="1878803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29150" y="1260870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b="1" sz="18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29150" y="1878803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6286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028952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4579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628652" y="27384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2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38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88" y="740567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38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2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38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88" y="740567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38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2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2" y="27384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302" y="-942430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2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52" y="1467546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474" y="-447053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2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2" y="27384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2" y="1369220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2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1143002" y="841771"/>
            <a:ext cx="6858000" cy="1790700"/>
          </a:xfrm>
          <a:prstGeom prst="rect">
            <a:avLst/>
          </a:prstGeom>
        </p:spPr>
        <p:txBody>
          <a:bodyPr anchorCtr="1" anchor="b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Artificial Intelligence</a:t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1143002" y="2701531"/>
            <a:ext cx="6858000" cy="1241700"/>
          </a:xfrm>
          <a:prstGeom prst="rect">
            <a:avLst/>
          </a:prstGeom>
        </p:spPr>
        <p:txBody>
          <a:bodyPr anchorCtr="1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800"/>
              <a:t>AI Challenges &amp; Responsible AI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ctrTitle"/>
          </p:nvPr>
        </p:nvSpPr>
        <p:spPr>
          <a:xfrm>
            <a:off x="1143002" y="841771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1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AI challenges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2" y="-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GB">
                <a:highlight>
                  <a:srgbClr val="FF0000"/>
                </a:highlight>
              </a:rPr>
              <a:t>Data Challenges</a:t>
            </a:r>
            <a:endParaRPr>
              <a:highlight>
                <a:srgbClr val="FF0000"/>
              </a:highlight>
            </a:endParaRPr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0" y="994200"/>
            <a:ext cx="9144000" cy="4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7500"/>
              </a:lnSpc>
              <a:spcBef>
                <a:spcPts val="2100"/>
              </a:spcBef>
              <a:spcAft>
                <a:spcPts val="0"/>
              </a:spcAft>
              <a:buSzPts val="2100"/>
              <a:buNone/>
            </a:pPr>
            <a:r>
              <a:rPr b="1" lang="en-GB" sz="12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Data Size:</a:t>
            </a:r>
            <a:r>
              <a:rPr lang="en-GB" sz="12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GB" sz="12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Unreasonable effectiveness of data:</a:t>
            </a:r>
            <a:endParaRPr i="1"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63500" rtl="0" algn="l">
              <a:lnSpc>
                <a:spcPct val="1375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63500" rtl="0" algn="l">
              <a:lnSpc>
                <a:spcPct val="1375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63500" rtl="0" algn="l">
              <a:lnSpc>
                <a:spcPct val="1375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b="1" lang="en-GB" sz="12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Data Quality:</a:t>
            </a:r>
            <a:r>
              <a:rPr lang="en-GB" sz="12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Ensuring the data is free from errors/outliers/missing values/irrelevant features (multicollinearity) and biases is important for reliable model performance.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63500" rtl="0" algn="l">
              <a:lnSpc>
                <a:spcPct val="1375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b="1" lang="en-GB" sz="12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Data sampling bias: </a:t>
            </a:r>
            <a:r>
              <a:rPr lang="en-GB" sz="12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It occurs when certain groups or individuals in the population are more likely to be included in the sample than others. This can happen due to flawed sampling methods, like non-random sampling, or the way the data is collected.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63500" rtl="0" algn="l">
              <a:lnSpc>
                <a:spcPct val="1375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b="1" lang="en-GB" sz="12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Data sampling noise: </a:t>
            </a:r>
            <a:r>
              <a:rPr lang="en-GB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It arises because of the random nature of sampling. Even if you sample multiple times from the same population, the results can vary slightly due to chance.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63500" rtl="0" algn="l">
              <a:lnSpc>
                <a:spcPct val="1375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b="1" lang="en-GB" sz="12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Data drift: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63500" rtl="0" algn="l">
              <a:lnSpc>
                <a:spcPct val="1375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b="1" lang="en-GB" sz="12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Data leakage: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63500" rtl="0" algn="l">
              <a:lnSpc>
                <a:spcPct val="1375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63500" rtl="0" algn="l">
              <a:lnSpc>
                <a:spcPct val="1375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42" name="Google Shape;14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8375" y="994200"/>
            <a:ext cx="3714750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791077" y="48139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</a:pPr>
            <a:r>
              <a:rPr i="1" lang="en-GB" sz="3000"/>
              <a:t>Imbalanced data: Sampling bias/noise Mitigation</a:t>
            </a:r>
            <a:endParaRPr i="1" sz="3000"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628652" y="1369220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-GB"/>
              <a:t>Over sampling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-GB"/>
              <a:t>Under sampling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-GB"/>
              <a:t>Smoke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-GB"/>
              <a:t>Enw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-GB"/>
              <a:t>Adasyn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-GB"/>
              <a:t>Class weight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lang="en-GB"/>
              <a:t>Bias-variance tradeoff : Both low required (Up/Downsampling)</a:t>
            </a:r>
            <a:endParaRPr/>
          </a:p>
        </p:txBody>
      </p:sp>
      <p:pic>
        <p:nvPicPr>
          <p:cNvPr id="149" name="Google Shape;14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5849" y="1560338"/>
            <a:ext cx="5986476" cy="202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456927" y="463322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i="1" lang="en-GB" sz="3000"/>
              <a:t>NLP Challenges</a:t>
            </a:r>
            <a:endParaRPr i="1" sz="3000"/>
          </a:p>
        </p:txBody>
      </p:sp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628652" y="1369220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156" name="Google Shape;15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700" y="1304400"/>
            <a:ext cx="8410575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title"/>
          </p:nvPr>
        </p:nvSpPr>
        <p:spPr>
          <a:xfrm>
            <a:off x="150327" y="3924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GB">
                <a:highlight>
                  <a:srgbClr val="FF0000"/>
                </a:highlight>
              </a:rPr>
              <a:t>Model Challenges</a:t>
            </a:r>
            <a:endParaRPr>
              <a:highlight>
                <a:srgbClr val="FF0000"/>
              </a:highlight>
            </a:endParaRPr>
          </a:p>
        </p:txBody>
      </p:sp>
      <p:sp>
        <p:nvSpPr>
          <p:cNvPr id="162" name="Google Shape;162;p30"/>
          <p:cNvSpPr txBox="1"/>
          <p:nvPr/>
        </p:nvSpPr>
        <p:spPr>
          <a:xfrm>
            <a:off x="0" y="1073825"/>
            <a:ext cx="9246300" cy="44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sng" cap="none" strike="noStrik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Overfitting (High Variance Low bias) Prevention:</a:t>
            </a:r>
            <a:endParaRPr b="0" i="0" sz="1400" u="sng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Regularization </a:t>
            </a:r>
            <a:endParaRPr b="0" i="0" sz="14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Dropout </a:t>
            </a:r>
            <a:endParaRPr b="0" i="0" sz="14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Early stopping halts training when validation loss</a:t>
            </a:r>
            <a:endParaRPr b="0" i="0" sz="14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plateaus</a:t>
            </a:r>
            <a:endParaRPr b="0" i="0" sz="14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Normalization</a:t>
            </a:r>
            <a:endParaRPr b="0" i="0" sz="14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sng" cap="none" strike="noStrik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Underfitting (High Bias Low variance) Prevention</a:t>
            </a:r>
            <a:endParaRPr b="0" i="0" sz="1400" u="sng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Increase model complexity, add more layers, or use more sophisticated architectures.</a:t>
            </a:r>
            <a:endParaRPr b="0" i="0" sz="14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Bias Variance tradeoff (Both low are required but are inversely proportional to each other)</a:t>
            </a:r>
            <a:endParaRPr b="1" i="1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1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sng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Model Drift</a:t>
            </a:r>
            <a:endParaRPr b="0" i="0" sz="1400" u="sng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D3E3FD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30"/>
          <p:cNvPicPr preferRelativeResize="0"/>
          <p:nvPr/>
        </p:nvPicPr>
        <p:blipFill rotWithShape="1">
          <a:blip r:embed="rId3">
            <a:alphaModFix/>
          </a:blip>
          <a:srcRect b="10284" l="12661" r="3600" t="2849"/>
          <a:stretch/>
        </p:blipFill>
        <p:spPr>
          <a:xfrm>
            <a:off x="4376475" y="0"/>
            <a:ext cx="4728424" cy="336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6650" y="54150"/>
            <a:ext cx="5117425" cy="508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234600" y="418225"/>
            <a:ext cx="8199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i="1" lang="en-GB" sz="3000"/>
              <a:t>LLM Challenges</a:t>
            </a:r>
            <a:endParaRPr i="1" sz="3000"/>
          </a:p>
        </p:txBody>
      </p:sp>
      <p:sp>
        <p:nvSpPr>
          <p:cNvPr id="174" name="Google Shape;174;p32"/>
          <p:cNvSpPr txBox="1"/>
          <p:nvPr>
            <p:ph idx="1" type="body"/>
          </p:nvPr>
        </p:nvSpPr>
        <p:spPr>
          <a:xfrm>
            <a:off x="628652" y="1369220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175" name="Google Shape;175;p32"/>
          <p:cNvPicPr preferRelativeResize="0"/>
          <p:nvPr/>
        </p:nvPicPr>
        <p:blipFill rotWithShape="1">
          <a:blip r:embed="rId3">
            <a:alphaModFix/>
          </a:blip>
          <a:srcRect b="0" l="0" r="-1843" t="10666"/>
          <a:stretch/>
        </p:blipFill>
        <p:spPr>
          <a:xfrm>
            <a:off x="234600" y="1127950"/>
            <a:ext cx="9077826" cy="3970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700" y="2021300"/>
            <a:ext cx="8468600" cy="99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>
            <p:ph type="title"/>
          </p:nvPr>
        </p:nvSpPr>
        <p:spPr>
          <a:xfrm>
            <a:off x="478252" y="65284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i="1" lang="en-GB" sz="3000"/>
              <a:t>Hallucinations Mitigation</a:t>
            </a:r>
            <a:endParaRPr i="1" sz="3000"/>
          </a:p>
        </p:txBody>
      </p:sp>
      <p:pic>
        <p:nvPicPr>
          <p:cNvPr id="182" name="Google Shape;18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275" y="1369225"/>
            <a:ext cx="8348926" cy="198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3"/>
          <p:cNvSpPr txBox="1"/>
          <p:nvPr/>
        </p:nvSpPr>
        <p:spPr>
          <a:xfrm>
            <a:off x="478250" y="3392900"/>
            <a:ext cx="40425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GB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 KG RAG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/>
              <a:t>Responsible AI</a:t>
            </a:r>
            <a:endParaRPr/>
          </a:p>
        </p:txBody>
      </p:sp>
      <p:sp>
        <p:nvSpPr>
          <p:cNvPr id="189" name="Google Shape;189;p34"/>
          <p:cNvSpPr txBox="1"/>
          <p:nvPr>
            <p:ph idx="1" type="subTitle"/>
          </p:nvPr>
        </p:nvSpPr>
        <p:spPr>
          <a:xfrm>
            <a:off x="0" y="2797175"/>
            <a:ext cx="92811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2200"/>
              <a:t> 		</a:t>
            </a:r>
            <a:r>
              <a:rPr lang="en-GB" sz="2200">
                <a:solidFill>
                  <a:schemeClr val="dk1"/>
                </a:solidFill>
              </a:rPr>
              <a:t>Fairness, Transparency, Privacy, Security, Accountability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2200"/>
              <a:t>		</a:t>
            </a:r>
            <a:endParaRPr sz="2200">
              <a:solidFill>
                <a:srgbClr val="262626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Fairness</a:t>
            </a:r>
            <a:endParaRPr/>
          </a:p>
        </p:txBody>
      </p:sp>
      <p:sp>
        <p:nvSpPr>
          <p:cNvPr id="195" name="Google Shape;19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AI Bias: 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1D35"/>
              </a:buClr>
              <a:buSzPts val="1300"/>
              <a:buChar char="●"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Data Bias: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300"/>
              <a:buChar char="○"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Sampling bias: Doesn’t represent entire population: </a:t>
            </a:r>
            <a:r>
              <a:rPr lang="en-GB" sz="1350">
                <a:solidFill>
                  <a:srgbClr val="001D35"/>
                </a:solidFill>
                <a:highlight>
                  <a:srgbClr val="FFFFFF"/>
                </a:highlight>
              </a:rPr>
              <a:t>Hallucinations due to insufficient data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300"/>
              <a:buChar char="○"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Confirmation bias: Societal Prejudices (Hiring, Criminal Justice): Bias drift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300"/>
              <a:buChar char="●"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Development Bias: Algorithmic design flaw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300"/>
              <a:buChar char="●"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Interaction Bias: Human errors, Data labelling errors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Mitigation: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1D35"/>
              </a:buClr>
              <a:buSzPts val="1300"/>
              <a:buChar char="●"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Bias detection tools (Fairness metrics)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300"/>
              <a:buChar char="●"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Data quality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300"/>
              <a:buChar char="●"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Monitoring, retraining and adaptive models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</p:txBody>
      </p:sp>
      <p:pic>
        <p:nvPicPr>
          <p:cNvPr id="196" name="Google Shape;19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8100" y="216575"/>
            <a:ext cx="4364200" cy="140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7075" y="2340775"/>
            <a:ext cx="3555449" cy="259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4295275"/>
            <a:ext cx="6257549" cy="64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Transparency</a:t>
            </a:r>
            <a:endParaRPr/>
          </a:p>
        </p:txBody>
      </p:sp>
      <p:sp>
        <p:nvSpPr>
          <p:cNvPr id="204" name="Google Shape;204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150"/>
              <a:buChar char="●"/>
            </a:pPr>
            <a:r>
              <a:rPr lang="en-GB" sz="1150">
                <a:solidFill>
                  <a:srgbClr val="262626"/>
                </a:solidFill>
                <a:highlight>
                  <a:srgbClr val="FFFFFF"/>
                </a:highlight>
              </a:rPr>
              <a:t>Interpretability vs. explainability</a:t>
            </a:r>
            <a:endParaRPr sz="1150">
              <a:solidFill>
                <a:srgbClr val="262626"/>
              </a:solidFill>
              <a:highlight>
                <a:srgbClr val="FFFFFF"/>
              </a:highlight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50"/>
              <a:buChar char="●"/>
            </a:pPr>
            <a:r>
              <a:rPr lang="en-GB" sz="1150">
                <a:solidFill>
                  <a:srgbClr val="262626"/>
                </a:solidFill>
                <a:highlight>
                  <a:srgbClr val="FFFFFF"/>
                </a:highlight>
              </a:rPr>
              <a:t>Methods for explaining black-box models (e.g., SHAP, LIME)</a:t>
            </a:r>
            <a:endParaRPr sz="1150">
              <a:solidFill>
                <a:srgbClr val="26262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50">
              <a:solidFill>
                <a:srgbClr val="26262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50">
              <a:solidFill>
                <a:srgbClr val="26262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50">
                <a:solidFill>
                  <a:srgbClr val="262626"/>
                </a:solidFill>
                <a:highlight>
                  <a:srgbClr val="FFFFFF"/>
                </a:highlight>
              </a:rPr>
              <a:t>For NN: Feature Visualizations</a:t>
            </a:r>
            <a:endParaRPr sz="1150">
              <a:solidFill>
                <a:srgbClr val="26262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50">
                <a:solidFill>
                  <a:srgbClr val="262626"/>
                </a:solidFill>
                <a:highlight>
                  <a:srgbClr val="FFFFFF"/>
                </a:highlight>
              </a:rPr>
              <a:t>For LLMs: Attention and feature visualizations both</a:t>
            </a:r>
            <a:endParaRPr sz="1150">
              <a:solidFill>
                <a:srgbClr val="26262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Privacy</a:t>
            </a:r>
            <a:endParaRPr/>
          </a:p>
        </p:txBody>
      </p:sp>
      <p:sp>
        <p:nvSpPr>
          <p:cNvPr id="210" name="Google Shape;21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300"/>
              <a:buChar char="○"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Data minimization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111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300"/>
              <a:buChar char="○"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Informed consent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111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300"/>
              <a:buChar char="○"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Data Anonymization 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111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300"/>
              <a:buChar char="○"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Differential privacy (Mathematical framework  add calibrated noise to balance privacy and data utility)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111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300"/>
              <a:buChar char="○"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Federated Learning (Data on users devices and only sharing model updates</a:t>
            </a:r>
            <a:r>
              <a:rPr lang="en-GB" sz="1150">
                <a:solidFill>
                  <a:srgbClr val="262626"/>
                </a:solidFill>
                <a:highlight>
                  <a:srgbClr val="FFFFFF"/>
                </a:highlight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Security</a:t>
            </a:r>
            <a:endParaRPr/>
          </a:p>
        </p:txBody>
      </p:sp>
      <p:sp>
        <p:nvSpPr>
          <p:cNvPr id="216" name="Google Shape;21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9688"/>
              <a:buNone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Model Security: Secure coding practices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05051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1D35"/>
              </a:buClr>
              <a:buSzPct val="100000"/>
              <a:buChar char="●"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Adversarial Attacks: Adversarial input leading to undesirable behaviour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05051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ct val="100000"/>
              <a:buChar char="●"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Data poisoning: Malicious data leading to inaccurate results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05051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ct val="100000"/>
              <a:buChar char="●"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Supply-chain attacks: Libraries corrupted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05051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ct val="100000"/>
              <a:buChar char="●"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Model Thefts: 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49688"/>
              <a:buNone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Data Security: Data validation, Integrity checks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05051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1D35"/>
              </a:buClr>
              <a:buSzPct val="100000"/>
              <a:buChar char="●"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Data breaches 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05051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ct val="100000"/>
              <a:buChar char="●"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Data integrity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49688"/>
              <a:buNone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Operational Security:  IDS</a:t>
            </a:r>
            <a:endParaRPr sz="1200">
              <a:solidFill>
                <a:srgbClr val="545D7E"/>
              </a:solidFill>
              <a:highlight>
                <a:srgbClr val="FFFFFF"/>
              </a:highlight>
            </a:endParaRPr>
          </a:p>
          <a:p>
            <a:pPr indent="-305051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1D35"/>
              </a:buClr>
              <a:buSzPct val="100000"/>
              <a:buChar char="●"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AI system's infrastructure, including servers, networks, and cloud environments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49688"/>
              <a:buNone/>
            </a:pPr>
            <a:r>
              <a:t/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10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Accountability</a:t>
            </a:r>
            <a:endParaRPr/>
          </a:p>
        </p:txBody>
      </p:sp>
      <p:sp>
        <p:nvSpPr>
          <p:cNvPr id="222" name="Google Shape;222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Ensure following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1D35"/>
              </a:buClr>
              <a:buSzPts val="1300"/>
              <a:buChar char="●"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Ethical guidelines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EU's AI Ethics Guidelines, IEEE AI Ethics Guidelines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1D35"/>
              </a:buClr>
              <a:buSzPts val="1300"/>
              <a:buChar char="●"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Privacy Laws:</a:t>
            </a:r>
            <a:endParaRPr sz="1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 sz="1300">
                <a:solidFill>
                  <a:srgbClr val="001D35"/>
                </a:solidFill>
                <a:highlight>
                  <a:srgbClr val="FFFFFF"/>
                </a:highlight>
              </a:rPr>
              <a:t>HIPAA, GDPR</a:t>
            </a:r>
            <a:endParaRPr sz="1900">
              <a:solidFill>
                <a:srgbClr val="001D35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0"/>
          <p:cNvSpPr txBox="1"/>
          <p:nvPr>
            <p:ph type="title"/>
          </p:nvPr>
        </p:nvSpPr>
        <p:spPr>
          <a:xfrm>
            <a:off x="4616000" y="188881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i="1" lang="en-GB"/>
              <a:t>LLMs Ethics</a:t>
            </a:r>
            <a:endParaRPr i="1"/>
          </a:p>
        </p:txBody>
      </p:sp>
      <p:pic>
        <p:nvPicPr>
          <p:cNvPr id="228" name="Google Shape;22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5988" y="1220900"/>
            <a:ext cx="292417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 Content Detection</a:t>
            </a:r>
            <a:endParaRPr/>
          </a:p>
        </p:txBody>
      </p:sp>
      <p:pic>
        <p:nvPicPr>
          <p:cNvPr id="234" name="Google Shape;23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324" y="667800"/>
            <a:ext cx="4385525" cy="440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0850" y="1099241"/>
            <a:ext cx="4623150" cy="3614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