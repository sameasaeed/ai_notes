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72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68348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6b3064c75e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6b3064c75e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902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b3064c75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36b3064c75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04455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6b3064c75e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6b3064c75e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59977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b3064c75e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5" name="Google Shape;145;g36b3064c75e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802873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6b3064c75e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36b3064c75e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01374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6b3064c75e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6b3064c75e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0845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6b3bed2b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6b3bed2b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82415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6b3064c75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36b3064c75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3284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6b3064c75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g36b3064c75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066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8907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046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" name="Google Shape;2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6935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65724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9113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2784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1468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6b38aedd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6b38aedd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9750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2" y="841771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2" y="2701531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1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1800"/>
            </a:lvl1pPr>
            <a:lvl2pPr lvl="1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623885" y="1282301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623885" y="3442099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98989"/>
              </a:buClr>
              <a:buSzPts val="1800"/>
              <a:buNone/>
              <a:defRPr sz="1800">
                <a:solidFill>
                  <a:srgbClr val="898989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4629150" y="1369220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629838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629838" y="1260870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1800" b="1"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629838" y="1878803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4629150" y="1260870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1800" b="1"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4629150" y="1878803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629838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887388" y="740567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 sz="1500"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629838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 sz="1200"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38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88" y="740567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38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 sz="1200"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302" y="-942430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52" y="1467546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474" y="-447053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sz="3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1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>
            <a:spLocks noGrp="1"/>
          </p:cNvSpPr>
          <p:nvPr>
            <p:ph type="ctrTitle"/>
          </p:nvPr>
        </p:nvSpPr>
        <p:spPr>
          <a:xfrm>
            <a:off x="1143002" y="841771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1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Artificial Intelligence</a:t>
            </a:r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ubTitle" idx="1"/>
          </p:nvPr>
        </p:nvSpPr>
        <p:spPr>
          <a:xfrm>
            <a:off x="1143002" y="2701531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1">
            <a:norm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800"/>
              <a:t>AI Challenges &amp; Responsible AI</a:t>
            </a:r>
            <a:endParaRPr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ctrTitle"/>
          </p:nvPr>
        </p:nvSpPr>
        <p:spPr>
          <a:xfrm>
            <a:off x="1143002" y="841771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GB"/>
              <a:t>AI challenges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>
            <a:spLocks noGrp="1"/>
          </p:cNvSpPr>
          <p:nvPr>
            <p:ph type="title"/>
          </p:nvPr>
        </p:nvSpPr>
        <p:spPr>
          <a:xfrm>
            <a:off x="2" y="-3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>
                <a:highlight>
                  <a:srgbClr val="FF0000"/>
                </a:highlight>
              </a:rPr>
              <a:t>Data Challenges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141" name="Google Shape;141;p27"/>
          <p:cNvSpPr txBox="1">
            <a:spLocks noGrp="1"/>
          </p:cNvSpPr>
          <p:nvPr>
            <p:ph type="body" idx="1"/>
          </p:nvPr>
        </p:nvSpPr>
        <p:spPr>
          <a:xfrm>
            <a:off x="0" y="994200"/>
            <a:ext cx="9144000" cy="41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37500"/>
              </a:lnSpc>
              <a:spcBef>
                <a:spcPts val="21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Data Size:</a:t>
            </a:r>
            <a:r>
              <a:rPr lang="en-GB" sz="1200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200" i="1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Unreasonable effectiveness of data:</a:t>
            </a:r>
            <a:endParaRPr sz="1200" i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Quality: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Ensuring the data is free from errors/outliers/missing values/irrelevant features (multicollinearity) and biases is important for reliable model performance.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sampling bias: 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It occurs when certain groups or individuals in the population are more likely to be included in the sample than others. This can happen due to flawed sampling methods, like non-random sampling, or the way the data is collected.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sampling noise: </a:t>
            </a:r>
            <a:r>
              <a:rPr lang="en-GB" sz="1200">
                <a:solidFill>
                  <a:srgbClr val="262626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It arises because of the random nature of sampling. Even if you sample multiple times from the same population, the results can vary slightly due to chance.</a:t>
            </a: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drift:</a:t>
            </a: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200" b="1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leakage:</a:t>
            </a: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63500" lvl="0" indent="0" algn="l" rtl="0">
              <a:lnSpc>
                <a:spcPct val="1375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 sz="1200" b="1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SzPts val="2100"/>
              <a:buNone/>
            </a:pPr>
            <a:endParaRPr sz="1200">
              <a:solidFill>
                <a:schemeClr val="dk1"/>
              </a:solidFill>
            </a:endParaRPr>
          </a:p>
        </p:txBody>
      </p:sp>
      <p:pic>
        <p:nvPicPr>
          <p:cNvPr id="142" name="Google Shape;14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28375" y="994200"/>
            <a:ext cx="3714750" cy="112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791077" y="48139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</a:pPr>
            <a:r>
              <a:rPr lang="en-GB" sz="3000" i="1"/>
              <a:t>Imbalanced data: Sampling bias/noise Mitigation</a:t>
            </a:r>
            <a:endParaRPr sz="3000" i="1"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Over sampling</a:t>
            </a:r>
            <a:endParaRPr/>
          </a:p>
          <a:p>
            <a:pPr marL="177800" lvl="0" indent="-1714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Under sampling</a:t>
            </a:r>
            <a:endParaRPr/>
          </a:p>
          <a:p>
            <a:pPr marL="177800" lvl="0" indent="-1714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Smoke</a:t>
            </a:r>
            <a:endParaRPr/>
          </a:p>
          <a:p>
            <a:pPr marL="177800" lvl="0" indent="-1714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Enw</a:t>
            </a:r>
            <a:endParaRPr/>
          </a:p>
          <a:p>
            <a:pPr marL="177800" lvl="0" indent="-1714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Adasyn</a:t>
            </a:r>
            <a:endParaRPr/>
          </a:p>
          <a:p>
            <a:pPr marL="177800" lvl="0" indent="-1714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</a:pPr>
            <a:r>
              <a:rPr lang="en-GB"/>
              <a:t>Class weight</a:t>
            </a:r>
            <a:endParaRPr/>
          </a:p>
          <a:p>
            <a:pPr marL="45720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/>
              <a:t>Bias-variance tradeoff : Both low required (Up/Downsampling)</a:t>
            </a:r>
            <a:endParaRPr/>
          </a:p>
        </p:txBody>
      </p:sp>
      <p:pic>
        <p:nvPicPr>
          <p:cNvPr id="149" name="Google Shape;149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95849" y="1560338"/>
            <a:ext cx="5986476" cy="202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>
            <a:spLocks noGrp="1"/>
          </p:cNvSpPr>
          <p:nvPr>
            <p:ph type="title"/>
          </p:nvPr>
        </p:nvSpPr>
        <p:spPr>
          <a:xfrm>
            <a:off x="456927" y="463322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 sz="3000" i="1"/>
              <a:t>NLP Challenges</a:t>
            </a:r>
            <a:endParaRPr sz="3000" i="1"/>
          </a:p>
        </p:txBody>
      </p:sp>
      <p:sp>
        <p:nvSpPr>
          <p:cNvPr id="155" name="Google Shape;155;p29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/>
          </a:p>
        </p:txBody>
      </p:sp>
      <p:pic>
        <p:nvPicPr>
          <p:cNvPr id="156" name="Google Shape;15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700" y="1304400"/>
            <a:ext cx="8410575" cy="3581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0"/>
          <p:cNvSpPr txBox="1">
            <a:spLocks noGrp="1"/>
          </p:cNvSpPr>
          <p:nvPr>
            <p:ph type="title"/>
          </p:nvPr>
        </p:nvSpPr>
        <p:spPr>
          <a:xfrm>
            <a:off x="150327" y="392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>
                <a:highlight>
                  <a:srgbClr val="FF0000"/>
                </a:highlight>
              </a:rPr>
              <a:t>Model Challenges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162" name="Google Shape;162;p30"/>
          <p:cNvSpPr txBox="1"/>
          <p:nvPr/>
        </p:nvSpPr>
        <p:spPr>
          <a:xfrm>
            <a:off x="0" y="1073825"/>
            <a:ext cx="9246300" cy="44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sng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Overfitting (High Variance Low bias) Prevention:</a:t>
            </a:r>
            <a:endParaRPr sz="1400" b="0" i="0" u="sng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Regularization 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Dropout 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Early stopping halts training when validation loss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plateaus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Normalization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sng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Underfitting (High Bias Low variance) Prevention</a:t>
            </a:r>
            <a:endParaRPr sz="1400" b="0" i="0" u="sng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Increase model complexity, add more layers, or use more sophisticated architectures.</a:t>
            </a:r>
            <a:endParaRPr sz="1400" b="0" i="0" u="none" strike="noStrike" cap="non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1" u="none" strike="noStrike" cap="non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Bias Variance tradeoff (Both low are required but are inversely proportional to each other)</a:t>
            </a:r>
            <a:endParaRPr sz="1400" b="1" i="1" u="none" strike="noStrike" cap="non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1" u="none" strike="noStrike" cap="non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sng" strike="noStrike" cap="non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Model Drift</a:t>
            </a:r>
            <a:endParaRPr sz="1400" b="0" i="0" u="sng" strike="noStrike" cap="non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D3E3FD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l="12661" t="2849" r="3600" b="10284"/>
          <a:stretch/>
        </p:blipFill>
        <p:spPr>
          <a:xfrm>
            <a:off x="4376475" y="0"/>
            <a:ext cx="4728424" cy="336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6650" y="54150"/>
            <a:ext cx="5117425" cy="5089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2"/>
          <p:cNvSpPr txBox="1">
            <a:spLocks noGrp="1"/>
          </p:cNvSpPr>
          <p:nvPr>
            <p:ph type="title"/>
          </p:nvPr>
        </p:nvSpPr>
        <p:spPr>
          <a:xfrm>
            <a:off x="234600" y="418225"/>
            <a:ext cx="81996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 sz="3000" i="1"/>
              <a:t>LLM Challenges</a:t>
            </a:r>
            <a:endParaRPr sz="3000" i="1"/>
          </a:p>
        </p:txBody>
      </p:sp>
      <p:sp>
        <p:nvSpPr>
          <p:cNvPr id="174" name="Google Shape;174;p32"/>
          <p:cNvSpPr txBox="1">
            <a:spLocks noGrp="1"/>
          </p:cNvSpPr>
          <p:nvPr>
            <p:ph type="body" idx="1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endParaRPr/>
          </a:p>
        </p:txBody>
      </p:sp>
      <p:pic>
        <p:nvPicPr>
          <p:cNvPr id="175" name="Google Shape;175;p32"/>
          <p:cNvPicPr preferRelativeResize="0"/>
          <p:nvPr/>
        </p:nvPicPr>
        <p:blipFill rotWithShape="1">
          <a:blip r:embed="rId3">
            <a:alphaModFix/>
          </a:blip>
          <a:srcRect t="10666" r="-1843"/>
          <a:stretch/>
        </p:blipFill>
        <p:spPr>
          <a:xfrm>
            <a:off x="234600" y="1127950"/>
            <a:ext cx="9077826" cy="3970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7700" y="2021300"/>
            <a:ext cx="8468600" cy="99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>
            <a:spLocks noGrp="1"/>
          </p:cNvSpPr>
          <p:nvPr>
            <p:ph type="title"/>
          </p:nvPr>
        </p:nvSpPr>
        <p:spPr>
          <a:xfrm>
            <a:off x="478252" y="652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 sz="3000" i="1"/>
              <a:t>Hallucinations Mitigation</a:t>
            </a:r>
            <a:endParaRPr sz="3000" i="1"/>
          </a:p>
        </p:txBody>
      </p:sp>
      <p:pic>
        <p:nvPicPr>
          <p:cNvPr id="182" name="Google Shape;182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7275" y="1369225"/>
            <a:ext cx="8348926" cy="198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3"/>
          <p:cNvSpPr txBox="1"/>
          <p:nvPr/>
        </p:nvSpPr>
        <p:spPr>
          <a:xfrm>
            <a:off x="478250" y="3392900"/>
            <a:ext cx="40425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GB" sz="2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5. KG RAG</a:t>
            </a:r>
            <a:endParaRPr sz="2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/>
              <a:t>Responsible AI</a:t>
            </a:r>
            <a:endParaRPr/>
          </a:p>
        </p:txBody>
      </p:sp>
      <p:sp>
        <p:nvSpPr>
          <p:cNvPr id="189" name="Google Shape;189;p34"/>
          <p:cNvSpPr txBox="1">
            <a:spLocks noGrp="1"/>
          </p:cNvSpPr>
          <p:nvPr>
            <p:ph type="subTitle" idx="1"/>
          </p:nvPr>
        </p:nvSpPr>
        <p:spPr>
          <a:xfrm>
            <a:off x="0" y="2797175"/>
            <a:ext cx="92811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200"/>
              <a:t> 		</a:t>
            </a:r>
            <a:r>
              <a:rPr lang="en-GB" sz="2200">
                <a:solidFill>
                  <a:schemeClr val="dk1"/>
                </a:solidFill>
              </a:rPr>
              <a:t>Fairness, Transparency, Privacy, Security, Accountability</a:t>
            </a:r>
            <a:endParaRPr sz="22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200"/>
              <a:t>		</a:t>
            </a:r>
            <a:endParaRPr sz="2200">
              <a:solidFill>
                <a:srgbClr val="262626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Fairness</a:t>
            </a:r>
            <a:endParaRPr/>
          </a:p>
        </p:txBody>
      </p:sp>
      <p:sp>
        <p:nvSpPr>
          <p:cNvPr id="195" name="Google Shape;195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AI Bias: 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Bias: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Sampling bias: Doesn’t represent entire population: </a:t>
            </a:r>
            <a:r>
              <a:rPr lang="en-GB" sz="1350">
                <a:solidFill>
                  <a:srgbClr val="001D35"/>
                </a:solidFill>
                <a:highlight>
                  <a:srgbClr val="FFFFFF"/>
                </a:highlight>
              </a:rPr>
              <a:t>Hallucinations due to insufficient data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Confirmation bias: Societal Prejudices (Hiring, Criminal Justice): Bias drift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Development Bias: Algorithmic design flaw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Interaction Bias: Human errors, Data labelling errors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Mitigation: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Bias detection tools (Fairness metrics)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quality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Monitoring, retraining and adaptive models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pic>
        <p:nvPicPr>
          <p:cNvPr id="196" name="Google Shape;196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8100" y="216575"/>
            <a:ext cx="4364200" cy="140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67075" y="2340775"/>
            <a:ext cx="3555449" cy="259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4295275"/>
            <a:ext cx="6257549" cy="64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Transparency</a:t>
            </a:r>
            <a:endParaRPr/>
          </a:p>
        </p:txBody>
      </p:sp>
      <p:sp>
        <p:nvSpPr>
          <p:cNvPr id="204" name="Google Shape;204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1625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262626"/>
              </a:buClr>
              <a:buSzPts val="1150"/>
              <a:buChar char="●"/>
            </a:pPr>
            <a:r>
              <a:rPr lang="en-GB" sz="1150">
                <a:solidFill>
                  <a:srgbClr val="262626"/>
                </a:solidFill>
                <a:highlight>
                  <a:srgbClr val="FFFFFF"/>
                </a:highlight>
              </a:rPr>
              <a:t>Interpretability vs. explainability</a:t>
            </a: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457200" lvl="0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150"/>
              <a:buChar char="●"/>
            </a:pPr>
            <a:r>
              <a:rPr lang="en-GB" sz="1150">
                <a:solidFill>
                  <a:srgbClr val="262626"/>
                </a:solidFill>
                <a:highlight>
                  <a:srgbClr val="FFFFFF"/>
                </a:highlight>
              </a:rPr>
              <a:t>Methods for explaining black-box models (e.g., SHAP, LIME)</a:t>
            </a: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 sz="1150">
                <a:solidFill>
                  <a:srgbClr val="262626"/>
                </a:solidFill>
                <a:highlight>
                  <a:srgbClr val="FFFFFF"/>
                </a:highlight>
              </a:rPr>
              <a:t>For NN: Feature Visualizations</a:t>
            </a: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 sz="1150">
                <a:solidFill>
                  <a:srgbClr val="262626"/>
                </a:solidFill>
                <a:highlight>
                  <a:srgbClr val="FFFFFF"/>
                </a:highlight>
              </a:rPr>
              <a:t>For LLMs: Attention and feature visualizations both</a:t>
            </a:r>
            <a:endParaRPr sz="1150">
              <a:solidFill>
                <a:srgbClr val="262626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1200"/>
              </a:spcAft>
              <a:buSzPts val="1800"/>
              <a:buNone/>
            </a:pP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777" y="0"/>
            <a:ext cx="4247223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Privacy</a:t>
            </a:r>
            <a:endParaRPr/>
          </a:p>
        </p:txBody>
      </p:sp>
      <p:sp>
        <p:nvSpPr>
          <p:cNvPr id="210" name="Google Shape;210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914400" marR="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minimization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marR="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Informed consent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marR="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Anonymization 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marR="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Differential privacy (Mathematical framework  add calibrated noise to balance privacy and data utility)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914400" marR="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ts val="1300"/>
              <a:buChar char="○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Federated Learning (Data on users devices and only sharing model updates</a:t>
            </a:r>
            <a:r>
              <a:rPr lang="en-GB" sz="1150">
                <a:solidFill>
                  <a:srgbClr val="262626"/>
                </a:solidFill>
                <a:highlight>
                  <a:srgbClr val="FFFFFF"/>
                </a:highlight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Security</a:t>
            </a:r>
            <a:endParaRPr/>
          </a:p>
        </p:txBody>
      </p:sp>
      <p:sp>
        <p:nvSpPr>
          <p:cNvPr id="216" name="Google Shape;216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9688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Model Security: Secure coding practices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Adversarial Attacks: Adversarial input leading to undesirable behaviour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poisoning: Malicious data leading to inaccurate results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Supply-chain attacks: Libraries corrupted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Model Thefts: 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49688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Security: Data validation, Integrity checks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breaches 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Data integrity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49688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Operational Security:  IDS</a:t>
            </a:r>
            <a:endParaRPr sz="1200">
              <a:solidFill>
                <a:srgbClr val="545D7E"/>
              </a:solidFill>
              <a:highlight>
                <a:srgbClr val="FFFFFF"/>
              </a:highlight>
            </a:endParaRPr>
          </a:p>
          <a:p>
            <a:pPr marL="457200" marR="0" lvl="0" indent="-30505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ct val="1000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AI system's infrastructure, including servers, networks, and cloud environments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49688"/>
              <a:buNone/>
            </a:pP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08107"/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Accountability</a:t>
            </a:r>
            <a:endParaRPr/>
          </a:p>
        </p:txBody>
      </p:sp>
      <p:sp>
        <p:nvSpPr>
          <p:cNvPr id="222" name="Google Shape;222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Ensure following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Ethical guidelines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EU's AI Ethics Guidelines, IEEE AI Ethics Guidelines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1D35"/>
              </a:buClr>
              <a:buSzPts val="1300"/>
              <a:buChar char="●"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Privacy Laws:</a:t>
            </a:r>
            <a:endParaRPr sz="1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en-GB" sz="1300">
                <a:solidFill>
                  <a:srgbClr val="001D35"/>
                </a:solidFill>
                <a:highlight>
                  <a:srgbClr val="FFFFFF"/>
                </a:highlight>
              </a:rPr>
              <a:t>HIPAA, GDPR</a:t>
            </a:r>
            <a:endParaRPr sz="19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 txBox="1">
            <a:spLocks noGrp="1"/>
          </p:cNvSpPr>
          <p:nvPr>
            <p:ph type="title"/>
          </p:nvPr>
        </p:nvSpPr>
        <p:spPr>
          <a:xfrm>
            <a:off x="4616000" y="1888813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 i="1"/>
              <a:t>LLMs Ethics</a:t>
            </a:r>
            <a:endParaRPr i="1"/>
          </a:p>
        </p:txBody>
      </p:sp>
      <p:pic>
        <p:nvPicPr>
          <p:cNvPr id="228" name="Google Shape;228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65988" y="1220900"/>
            <a:ext cx="2924175" cy="21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 Content Detection</a:t>
            </a:r>
            <a:endParaRPr/>
          </a:p>
        </p:txBody>
      </p:sp>
      <p:pic>
        <p:nvPicPr>
          <p:cNvPr id="234" name="Google Shape;23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324" y="667800"/>
            <a:ext cx="4385525" cy="440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0850" y="1099241"/>
            <a:ext cx="4623150" cy="36140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</Words>
  <Application>Microsoft Office PowerPoint</Application>
  <PresentationFormat>On-screen Show (16:9)</PresentationFormat>
  <Paragraphs>87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Simple Light</vt:lpstr>
      <vt:lpstr>Office Theme</vt:lpstr>
      <vt:lpstr>Artificial Intelligence</vt:lpstr>
      <vt:lpstr>AI challenges </vt:lpstr>
      <vt:lpstr>Data Challenges</vt:lpstr>
      <vt:lpstr>Imbalanced data: Sampling bias/noise Mitigation</vt:lpstr>
      <vt:lpstr>NLP Challenges</vt:lpstr>
      <vt:lpstr>Model Challenges</vt:lpstr>
      <vt:lpstr>PowerPoint Presentation</vt:lpstr>
      <vt:lpstr>LLM Challenges</vt:lpstr>
      <vt:lpstr>Hallucinations Mitigation</vt:lpstr>
      <vt:lpstr>Responsible AI</vt:lpstr>
      <vt:lpstr>Fairness</vt:lpstr>
      <vt:lpstr>Transparency</vt:lpstr>
      <vt:lpstr>Privacy</vt:lpstr>
      <vt:lpstr>Security</vt:lpstr>
      <vt:lpstr>Accountability</vt:lpstr>
      <vt:lpstr>LLMs Ethics</vt:lpstr>
      <vt:lpstr>AI Content Detection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</dc:title>
  <cp:lastModifiedBy>Windows User</cp:lastModifiedBy>
  <cp:revision>1</cp:revision>
  <dcterms:modified xsi:type="dcterms:W3CDTF">2026-03-08T16:35:24Z</dcterms:modified>
</cp:coreProperties>
</file>