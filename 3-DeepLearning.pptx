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Nuni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A79D4FD-513F-43A0-81B6-46086E9CCCEE}">
  <a:tblStyle styleId="{8A79D4FD-513F-43A0-81B6-46086E9CCCEE}"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Nunito-bold.fntdata"/><Relationship Id="rId23" Type="http://schemas.openxmlformats.org/officeDocument/2006/relationships/font" Target="fonts/Nuni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Nunito-boldItalic.fntdata"/><Relationship Id="rId25" Type="http://schemas.openxmlformats.org/officeDocument/2006/relationships/font" Target="fonts/Nuni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71072a30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71072a30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www.geeksforgeeks.org/what-is-automl-in-machine-learning/" TargetMode="External"/><Relationship Id="rId4" Type="http://schemas.openxmlformats.org/officeDocument/2006/relationships/hyperlink" Target="https://www.geeksforgeeks.org/neural-networks-a-beginners-guide/" TargetMode="External"/><Relationship Id="rId9" Type="http://schemas.openxmlformats.org/officeDocument/2006/relationships/image" Target="../media/image14.png"/><Relationship Id="rId5" Type="http://schemas.openxmlformats.org/officeDocument/2006/relationships/hyperlink" Target="https://www.geeksforgeeks.org/introduction-to-ann-set-4-network-architectures/" TargetMode="External"/><Relationship Id="rId6" Type="http://schemas.openxmlformats.org/officeDocument/2006/relationships/hyperlink" Target="https://www.geeksforgeeks.org/what-is-reinforcement-learning/" TargetMode="External"/><Relationship Id="rId7" Type="http://schemas.openxmlformats.org/officeDocument/2006/relationships/hyperlink" Target="https://www.geeksforgeeks.org/natural-language-processing-overview/" TargetMode="External"/><Relationship Id="rId8"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GB"/>
              <a:t>Artificial Intelligence</a:t>
            </a:r>
            <a:endParaRPr/>
          </a:p>
        </p:txBody>
      </p:sp>
      <p:sp>
        <p:nvSpPr>
          <p:cNvPr id="55" name="Google Shape;55;p13"/>
          <p:cNvSpPr txBox="1"/>
          <p:nvPr>
            <p:ph idx="1" type="subTitle"/>
          </p:nvPr>
        </p:nvSpPr>
        <p:spPr>
          <a:xfrm>
            <a:off x="122200" y="2725850"/>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n-GB">
                <a:solidFill>
                  <a:schemeClr val="dk1"/>
                </a:solidFill>
              </a:rPr>
              <a:t>Deep Learning</a:t>
            </a:r>
            <a:endParaRPr>
              <a:solidFill>
                <a:schemeClr val="dk1"/>
              </a:solidFill>
            </a:endParaRPr>
          </a:p>
        </p:txBody>
      </p:sp>
      <p:sp>
        <p:nvSpPr>
          <p:cNvPr id="56" name="Google Shape;56;p13"/>
          <p:cNvSpPr txBox="1"/>
          <p:nvPr/>
        </p:nvSpPr>
        <p:spPr>
          <a:xfrm>
            <a:off x="365825" y="622625"/>
            <a:ext cx="906600" cy="36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DSCN</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Data Preprocessing</a:t>
            </a:r>
            <a:endParaRPr/>
          </a:p>
        </p:txBody>
      </p:sp>
      <p:sp>
        <p:nvSpPr>
          <p:cNvPr id="62" name="Google Shape;62;p14"/>
          <p:cNvSpPr txBox="1"/>
          <p:nvPr>
            <p:ph idx="1" type="body"/>
          </p:nvPr>
        </p:nvSpPr>
        <p:spPr>
          <a:xfrm>
            <a:off x="311700" y="1152475"/>
            <a:ext cx="8694000" cy="3467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800"/>
              <a:buNone/>
            </a:pPr>
            <a:r>
              <a:rPr b="1" lang="en-GB" sz="1500">
                <a:solidFill>
                  <a:srgbClr val="001D35"/>
                </a:solidFill>
                <a:highlight>
                  <a:schemeClr val="accent6"/>
                </a:highlight>
              </a:rPr>
              <a:t>Computer Vision</a:t>
            </a:r>
            <a:endParaRPr b="1" sz="1500">
              <a:solidFill>
                <a:srgbClr val="001D35"/>
              </a:solidFill>
              <a:highlight>
                <a:schemeClr val="accent6"/>
              </a:highlight>
            </a:endParaRPr>
          </a:p>
          <a:p>
            <a:pPr indent="-323850" lvl="0" marL="457200" rtl="0" algn="l">
              <a:lnSpc>
                <a:spcPct val="100000"/>
              </a:lnSpc>
              <a:spcBef>
                <a:spcPts val="2100"/>
              </a:spcBef>
              <a:spcAft>
                <a:spcPts val="0"/>
              </a:spcAft>
              <a:buClr>
                <a:schemeClr val="dk1"/>
              </a:buClr>
              <a:buSzPts val="1500"/>
              <a:buChar char="●"/>
            </a:pPr>
            <a:r>
              <a:rPr b="1" lang="en-GB" sz="1500">
                <a:solidFill>
                  <a:schemeClr val="dk1"/>
                </a:solidFill>
                <a:highlight>
                  <a:srgbClr val="FFFFFF"/>
                </a:highlight>
              </a:rPr>
              <a:t>Data Augmentation</a:t>
            </a:r>
            <a:r>
              <a:rPr lang="en-GB" sz="1500">
                <a:solidFill>
                  <a:schemeClr val="dk1"/>
                </a:solidFill>
                <a:highlight>
                  <a:srgbClr val="FFFFFF"/>
                </a:highlight>
              </a:rPr>
              <a:t>: DL benefits from techniques like random rotations, flips, or shifts and noise removal of images to increase the diversity and size of the training set. </a:t>
            </a:r>
            <a:endParaRPr sz="1500">
              <a:solidFill>
                <a:schemeClr val="dk1"/>
              </a:solidFill>
              <a:highlight>
                <a:srgbClr val="FFFFFF"/>
              </a:highlight>
            </a:endParaRPr>
          </a:p>
          <a:p>
            <a:pPr indent="-323850" lvl="0" marL="457200" rtl="0" algn="l">
              <a:lnSpc>
                <a:spcPct val="100000"/>
              </a:lnSpc>
              <a:spcBef>
                <a:spcPts val="0"/>
              </a:spcBef>
              <a:spcAft>
                <a:spcPts val="0"/>
              </a:spcAft>
              <a:buClr>
                <a:schemeClr val="dk1"/>
              </a:buClr>
              <a:buSzPts val="1500"/>
              <a:buChar char="●"/>
            </a:pPr>
            <a:r>
              <a:rPr b="1" lang="en-GB" sz="1500">
                <a:solidFill>
                  <a:schemeClr val="dk1"/>
                </a:solidFill>
                <a:highlight>
                  <a:srgbClr val="FFFFFF"/>
                </a:highlight>
              </a:rPr>
              <a:t>Normalization/Scaling</a:t>
            </a:r>
            <a:r>
              <a:rPr lang="en-GB" sz="1500">
                <a:solidFill>
                  <a:schemeClr val="dk1"/>
                </a:solidFill>
                <a:highlight>
                  <a:srgbClr val="FFFFFF"/>
                </a:highlight>
              </a:rPr>
              <a:t>: Techniques like batch normalization are used within the network itself to normalize activations. </a:t>
            </a:r>
            <a:endParaRPr sz="1500">
              <a:solidFill>
                <a:schemeClr val="dk1"/>
              </a:solidFill>
              <a:highlight>
                <a:srgbClr val="FFFFFF"/>
              </a:highlight>
            </a:endParaRPr>
          </a:p>
          <a:p>
            <a:pPr indent="-323850" lvl="0" marL="457200" rtl="0" algn="l">
              <a:lnSpc>
                <a:spcPct val="100000"/>
              </a:lnSpc>
              <a:spcBef>
                <a:spcPts val="0"/>
              </a:spcBef>
              <a:spcAft>
                <a:spcPts val="0"/>
              </a:spcAft>
              <a:buClr>
                <a:schemeClr val="dk1"/>
              </a:buClr>
              <a:buSzPts val="1500"/>
              <a:buChar char="●"/>
            </a:pPr>
            <a:r>
              <a:rPr b="1" lang="en-GB" sz="1500">
                <a:solidFill>
                  <a:schemeClr val="dk1"/>
                </a:solidFill>
                <a:highlight>
                  <a:srgbClr val="FFFFFF"/>
                </a:highlight>
              </a:rPr>
              <a:t>Data Shuffling</a:t>
            </a:r>
            <a:endParaRPr b="1" sz="1500">
              <a:solidFill>
                <a:schemeClr val="dk1"/>
              </a:solidFill>
              <a:highlight>
                <a:srgbClr val="FFFFFF"/>
              </a:highlight>
            </a:endParaRPr>
          </a:p>
          <a:p>
            <a:pPr indent="0" lvl="0" marL="0" rtl="0" algn="l">
              <a:lnSpc>
                <a:spcPct val="100000"/>
              </a:lnSpc>
              <a:spcBef>
                <a:spcPts val="2100"/>
              </a:spcBef>
              <a:spcAft>
                <a:spcPts val="0"/>
              </a:spcAft>
              <a:buSzPts val="1800"/>
              <a:buNone/>
            </a:pPr>
            <a:r>
              <a:rPr b="1" lang="en-GB" sz="1500">
                <a:solidFill>
                  <a:srgbClr val="001D35"/>
                </a:solidFill>
                <a:highlight>
                  <a:schemeClr val="accent6"/>
                </a:highlight>
              </a:rPr>
              <a:t>NLP:</a:t>
            </a:r>
            <a:endParaRPr b="1" sz="1500">
              <a:solidFill>
                <a:srgbClr val="001D35"/>
              </a:solidFill>
              <a:highlight>
                <a:schemeClr val="accent6"/>
              </a:highlight>
            </a:endParaRPr>
          </a:p>
          <a:p>
            <a:pPr indent="0" lvl="0" marL="0" rtl="0" algn="l">
              <a:lnSpc>
                <a:spcPct val="100000"/>
              </a:lnSpc>
              <a:spcBef>
                <a:spcPts val="2100"/>
              </a:spcBef>
              <a:spcAft>
                <a:spcPts val="0"/>
              </a:spcAft>
              <a:buSzPts val="1800"/>
              <a:buNone/>
            </a:pPr>
            <a:r>
              <a:rPr lang="en-GB" sz="1500">
                <a:solidFill>
                  <a:schemeClr val="dk1"/>
                </a:solidFill>
                <a:highlight>
                  <a:srgbClr val="FFFFFF"/>
                </a:highlight>
              </a:rPr>
              <a:t>Focuses on cleaning and structuring text data through techniques like stop word removal,stemming, tokenization,and vectorization(embeddings).</a:t>
            </a:r>
            <a:endParaRPr sz="1500">
              <a:solidFill>
                <a:srgbClr val="545D7E"/>
              </a:solidFill>
              <a:highlight>
                <a:srgbClr val="FFFFFF"/>
              </a:highlight>
            </a:endParaRPr>
          </a:p>
          <a:p>
            <a:pPr indent="0" lvl="0" marL="0" rtl="0" algn="l">
              <a:lnSpc>
                <a:spcPct val="100000"/>
              </a:lnSpc>
              <a:spcBef>
                <a:spcPts val="2100"/>
              </a:spcBef>
              <a:spcAft>
                <a:spcPts val="0"/>
              </a:spcAft>
              <a:buSzPts val="1800"/>
              <a:buNone/>
            </a:pPr>
            <a:r>
              <a:t/>
            </a:r>
            <a:endParaRPr sz="1500">
              <a:solidFill>
                <a:srgbClr val="545D7E"/>
              </a:solidFill>
              <a:highlight>
                <a:srgbClr val="FFFFFF"/>
              </a:highlight>
            </a:endParaRPr>
          </a:p>
          <a:p>
            <a:pPr indent="0" lvl="0" marL="0" rtl="0" algn="l">
              <a:lnSpc>
                <a:spcPct val="100000"/>
              </a:lnSpc>
              <a:spcBef>
                <a:spcPts val="2100"/>
              </a:spcBef>
              <a:spcAft>
                <a:spcPts val="1200"/>
              </a:spcAft>
              <a:buSzPts val="1800"/>
              <a:buNone/>
            </a:pPr>
            <a:r>
              <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0" y="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Neural Networks</a:t>
            </a:r>
            <a:endParaRPr/>
          </a:p>
        </p:txBody>
      </p:sp>
      <p:pic>
        <p:nvPicPr>
          <p:cNvPr id="68" name="Google Shape;68;p15"/>
          <p:cNvPicPr preferRelativeResize="0"/>
          <p:nvPr/>
        </p:nvPicPr>
        <p:blipFill rotWithShape="1">
          <a:blip r:embed="rId3">
            <a:alphaModFix/>
          </a:blip>
          <a:srcRect b="0" l="0" r="0" t="0"/>
          <a:stretch/>
        </p:blipFill>
        <p:spPr>
          <a:xfrm>
            <a:off x="113188" y="572700"/>
            <a:ext cx="7496175" cy="2714625"/>
          </a:xfrm>
          <a:prstGeom prst="rect">
            <a:avLst/>
          </a:prstGeom>
          <a:noFill/>
          <a:ln>
            <a:noFill/>
          </a:ln>
        </p:spPr>
      </p:pic>
      <p:pic>
        <p:nvPicPr>
          <p:cNvPr id="69" name="Google Shape;69;p15"/>
          <p:cNvPicPr preferRelativeResize="0"/>
          <p:nvPr/>
        </p:nvPicPr>
        <p:blipFill rotWithShape="1">
          <a:blip r:embed="rId4">
            <a:alphaModFix/>
          </a:blip>
          <a:srcRect b="0" l="0" r="0" t="0"/>
          <a:stretch/>
        </p:blipFill>
        <p:spPr>
          <a:xfrm>
            <a:off x="241788" y="3342013"/>
            <a:ext cx="7239000" cy="1724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0" y="532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Activation Functions</a:t>
            </a:r>
            <a:endParaRPr/>
          </a:p>
        </p:txBody>
      </p:sp>
      <p:pic>
        <p:nvPicPr>
          <p:cNvPr id="75" name="Google Shape;75;p16"/>
          <p:cNvPicPr preferRelativeResize="0"/>
          <p:nvPr/>
        </p:nvPicPr>
        <p:blipFill rotWithShape="1">
          <a:blip r:embed="rId3">
            <a:alphaModFix/>
          </a:blip>
          <a:srcRect b="0" l="0" r="0" t="0"/>
          <a:stretch/>
        </p:blipFill>
        <p:spPr>
          <a:xfrm>
            <a:off x="1828800" y="625913"/>
            <a:ext cx="7315200" cy="3171825"/>
          </a:xfrm>
          <a:prstGeom prst="rect">
            <a:avLst/>
          </a:prstGeom>
          <a:noFill/>
          <a:ln>
            <a:noFill/>
          </a:ln>
        </p:spPr>
      </p:pic>
      <p:sp>
        <p:nvSpPr>
          <p:cNvPr id="76" name="Google Shape;76;p16"/>
          <p:cNvSpPr txBox="1"/>
          <p:nvPr/>
        </p:nvSpPr>
        <p:spPr>
          <a:xfrm>
            <a:off x="81650" y="3247525"/>
            <a:ext cx="5098200" cy="17361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0"/>
              </a:spcBef>
              <a:spcAft>
                <a:spcPts val="0"/>
              </a:spcAft>
              <a:buClr>
                <a:schemeClr val="dk1"/>
              </a:buClr>
              <a:buSzPts val="1800"/>
              <a:buFont typeface="Arial"/>
              <a:buChar char="●"/>
            </a:pPr>
            <a:r>
              <a:rPr b="0" i="0" lang="en-GB" sz="1800" u="none" cap="none" strike="noStrike">
                <a:solidFill>
                  <a:schemeClr val="dk1"/>
                </a:solidFill>
                <a:latin typeface="Arial"/>
                <a:ea typeface="Arial"/>
                <a:cs typeface="Arial"/>
                <a:sym typeface="Arial"/>
              </a:rPr>
              <a:t>Softmax</a:t>
            </a: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Char char="●"/>
            </a:pPr>
            <a:r>
              <a:rPr b="0" i="0" lang="en-GB" sz="1800" u="none" cap="none" strike="noStrike">
                <a:solidFill>
                  <a:schemeClr val="dk1"/>
                </a:solidFill>
                <a:latin typeface="Arial"/>
                <a:ea typeface="Arial"/>
                <a:cs typeface="Arial"/>
                <a:sym typeface="Arial"/>
              </a:rPr>
              <a:t>Sigmoid</a:t>
            </a: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Char char="●"/>
            </a:pPr>
            <a:r>
              <a:rPr b="0" i="0" lang="en-GB" sz="1800" u="none" cap="none" strike="noStrike">
                <a:solidFill>
                  <a:schemeClr val="dk1"/>
                </a:solidFill>
                <a:latin typeface="Arial"/>
                <a:ea typeface="Arial"/>
                <a:cs typeface="Arial"/>
                <a:sym typeface="Arial"/>
              </a:rPr>
              <a:t>Tanh</a:t>
            </a: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Char char="●"/>
            </a:pPr>
            <a:r>
              <a:rPr b="0" i="0" lang="en-GB" sz="1800" u="none" cap="none" strike="noStrike">
                <a:solidFill>
                  <a:schemeClr val="dk1"/>
                </a:solidFill>
                <a:latin typeface="Arial"/>
                <a:ea typeface="Arial"/>
                <a:cs typeface="Arial"/>
                <a:sym typeface="Arial"/>
              </a:rPr>
              <a:t>ReLU: Leaky, Parametric, ELU,Scaled ELU</a:t>
            </a: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Char char="●"/>
            </a:pPr>
            <a:r>
              <a:rPr b="0" i="0" lang="en-GB" sz="1800" u="none" cap="none" strike="noStrike">
                <a:solidFill>
                  <a:schemeClr val="dk1"/>
                </a:solidFill>
                <a:latin typeface="Arial"/>
                <a:ea typeface="Arial"/>
                <a:cs typeface="Arial"/>
                <a:sym typeface="Arial"/>
              </a:rPr>
              <a:t>GeLU</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0" y="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Forward Propagation (Loss)</a:t>
            </a:r>
            <a:endParaRPr/>
          </a:p>
        </p:txBody>
      </p:sp>
      <p:pic>
        <p:nvPicPr>
          <p:cNvPr id="82" name="Google Shape;82;p17"/>
          <p:cNvPicPr preferRelativeResize="0"/>
          <p:nvPr/>
        </p:nvPicPr>
        <p:blipFill rotWithShape="1">
          <a:blip r:embed="rId3">
            <a:alphaModFix/>
          </a:blip>
          <a:srcRect b="0" l="0" r="0" t="0"/>
          <a:stretch/>
        </p:blipFill>
        <p:spPr>
          <a:xfrm rot="5400000">
            <a:off x="-3359362" y="2021587"/>
            <a:ext cx="5209074" cy="1070850"/>
          </a:xfrm>
          <a:prstGeom prst="rect">
            <a:avLst/>
          </a:prstGeom>
          <a:noFill/>
          <a:ln>
            <a:noFill/>
          </a:ln>
        </p:spPr>
      </p:pic>
      <p:sp>
        <p:nvSpPr>
          <p:cNvPr id="83" name="Google Shape;83;p17"/>
          <p:cNvSpPr txBox="1"/>
          <p:nvPr/>
        </p:nvSpPr>
        <p:spPr>
          <a:xfrm>
            <a:off x="95150" y="748975"/>
            <a:ext cx="8342100" cy="456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350"/>
              <a:buFont typeface="Arial"/>
              <a:buNone/>
            </a:pPr>
            <a:r>
              <a:rPr b="1" i="0" lang="en-GB" sz="1350" u="none" cap="none" strike="noStrike">
                <a:solidFill>
                  <a:srgbClr val="001D35"/>
                </a:solidFill>
                <a:highlight>
                  <a:srgbClr val="FFFFFF"/>
                </a:highlight>
                <a:latin typeface="Arial"/>
                <a:ea typeface="Arial"/>
                <a:cs typeface="Arial"/>
                <a:sym typeface="Arial"/>
              </a:rPr>
              <a:t>Classification Loss: </a:t>
            </a:r>
            <a:r>
              <a:rPr b="0" i="0" lang="en-GB" sz="1350" u="none" cap="none" strike="noStrike">
                <a:solidFill>
                  <a:srgbClr val="001D35"/>
                </a:solidFill>
                <a:highlight>
                  <a:srgbClr val="FFFFFF"/>
                </a:highlight>
                <a:latin typeface="Arial"/>
                <a:ea typeface="Arial"/>
                <a:cs typeface="Arial"/>
                <a:sym typeface="Arial"/>
              </a:rPr>
              <a:t>Binary loss, Categorical entropy loss, Hingeloss</a:t>
            </a:r>
            <a:endParaRPr b="0" i="0" sz="1350" u="none" cap="none" strike="noStrike">
              <a:solidFill>
                <a:srgbClr val="001D35"/>
              </a:solidFill>
              <a:highlight>
                <a:srgbClr val="FFFFFF"/>
              </a:highlight>
              <a:latin typeface="Arial"/>
              <a:ea typeface="Arial"/>
              <a:cs typeface="Arial"/>
              <a:sym typeface="Arial"/>
            </a:endParaRPr>
          </a:p>
          <a:p>
            <a:pPr indent="0" lvl="0" marL="0" marR="0" rtl="0" algn="l">
              <a:lnSpc>
                <a:spcPct val="115000"/>
              </a:lnSpc>
              <a:spcBef>
                <a:spcPts val="1200"/>
              </a:spcBef>
              <a:spcAft>
                <a:spcPts val="0"/>
              </a:spcAft>
              <a:buClr>
                <a:srgbClr val="000000"/>
              </a:buClr>
              <a:buSzPts val="1350"/>
              <a:buFont typeface="Arial"/>
              <a:buNone/>
            </a:pPr>
            <a:r>
              <a:rPr b="0" i="0" lang="en-GB" sz="1350" u="none" cap="none" strike="noStrike">
                <a:solidFill>
                  <a:srgbClr val="001D35"/>
                </a:solidFill>
                <a:highlight>
                  <a:srgbClr val="FFFFFF"/>
                </a:highlight>
                <a:latin typeface="Arial"/>
                <a:ea typeface="Arial"/>
                <a:cs typeface="Arial"/>
                <a:sym typeface="Arial"/>
              </a:rPr>
              <a:t>Focal loss is a modified version of cross-entropy that addresses class imbalance by down-weighting easy examples.</a:t>
            </a:r>
            <a:endParaRPr b="0" i="0" sz="1350" u="none" cap="none" strike="noStrike">
              <a:solidFill>
                <a:srgbClr val="001D35"/>
              </a:solidFill>
              <a:highlight>
                <a:srgbClr val="FFFFFF"/>
              </a:highlight>
              <a:latin typeface="Arial"/>
              <a:ea typeface="Arial"/>
              <a:cs typeface="Arial"/>
              <a:sym typeface="Arial"/>
            </a:endParaRPr>
          </a:p>
          <a:p>
            <a:pPr indent="0" lvl="0" marL="0" marR="0" rtl="0" algn="l">
              <a:lnSpc>
                <a:spcPct val="115000"/>
              </a:lnSpc>
              <a:spcBef>
                <a:spcPts val="1200"/>
              </a:spcBef>
              <a:spcAft>
                <a:spcPts val="0"/>
              </a:spcAft>
              <a:buClr>
                <a:srgbClr val="000000"/>
              </a:buClr>
              <a:buSzPts val="1350"/>
              <a:buFont typeface="Arial"/>
              <a:buNone/>
            </a:pPr>
            <a:r>
              <a:t/>
            </a:r>
            <a:endParaRPr b="0" i="0" sz="1350" u="none" cap="none" strike="noStrike">
              <a:solidFill>
                <a:srgbClr val="001D35"/>
              </a:solidFill>
              <a:highlight>
                <a:srgbClr val="FFFFFF"/>
              </a:highlight>
              <a:latin typeface="Arial"/>
              <a:ea typeface="Arial"/>
              <a:cs typeface="Arial"/>
              <a:sym typeface="Arial"/>
            </a:endParaRPr>
          </a:p>
          <a:p>
            <a:pPr indent="0" lvl="0" marL="0" marR="0" rtl="0" algn="l">
              <a:lnSpc>
                <a:spcPct val="115000"/>
              </a:lnSpc>
              <a:spcBef>
                <a:spcPts val="1200"/>
              </a:spcBef>
              <a:spcAft>
                <a:spcPts val="0"/>
              </a:spcAft>
              <a:buClr>
                <a:srgbClr val="000000"/>
              </a:buClr>
              <a:buSzPts val="1350"/>
              <a:buFont typeface="Arial"/>
              <a:buNone/>
            </a:pPr>
            <a:r>
              <a:rPr b="1" i="0" lang="en-GB" sz="1350" u="none" cap="none" strike="noStrike">
                <a:solidFill>
                  <a:srgbClr val="001D35"/>
                </a:solidFill>
                <a:highlight>
                  <a:srgbClr val="FFFFFF"/>
                </a:highlight>
                <a:latin typeface="Arial"/>
                <a:ea typeface="Arial"/>
                <a:cs typeface="Arial"/>
                <a:sym typeface="Arial"/>
              </a:rPr>
              <a:t>Regression Loss: </a:t>
            </a:r>
            <a:r>
              <a:rPr b="0" i="0" lang="en-GB" sz="1350" u="none" cap="none" strike="noStrike">
                <a:solidFill>
                  <a:srgbClr val="001D35"/>
                </a:solidFill>
                <a:highlight>
                  <a:srgbClr val="FFFFFF"/>
                </a:highlight>
                <a:latin typeface="Arial"/>
                <a:ea typeface="Arial"/>
                <a:cs typeface="Arial"/>
                <a:sym typeface="Arial"/>
              </a:rPr>
              <a:t>MAE, MSE, Huber loss</a:t>
            </a:r>
            <a:endParaRPr b="0" i="0" sz="1350" u="none" cap="none" strike="noStrike">
              <a:solidFill>
                <a:srgbClr val="001D35"/>
              </a:solidFill>
              <a:highlight>
                <a:srgbClr val="FFFFFF"/>
              </a:highlight>
              <a:latin typeface="Arial"/>
              <a:ea typeface="Arial"/>
              <a:cs typeface="Arial"/>
              <a:sym typeface="Arial"/>
            </a:endParaRPr>
          </a:p>
          <a:p>
            <a:pPr indent="0" lvl="0" marL="0" marR="0" rtl="0" algn="l">
              <a:lnSpc>
                <a:spcPct val="115000"/>
              </a:lnSpc>
              <a:spcBef>
                <a:spcPts val="1200"/>
              </a:spcBef>
              <a:spcAft>
                <a:spcPts val="0"/>
              </a:spcAft>
              <a:buClr>
                <a:srgbClr val="000000"/>
              </a:buClr>
              <a:buSzPts val="1350"/>
              <a:buFont typeface="Arial"/>
              <a:buNone/>
            </a:pPr>
            <a:r>
              <a:t/>
            </a:r>
            <a:endParaRPr b="0" i="0" sz="1350" u="none" cap="none" strike="noStrike">
              <a:solidFill>
                <a:srgbClr val="001D35"/>
              </a:solidFill>
              <a:highlight>
                <a:srgbClr val="FFFFFF"/>
              </a:highlight>
              <a:latin typeface="Arial"/>
              <a:ea typeface="Arial"/>
              <a:cs typeface="Arial"/>
              <a:sym typeface="Arial"/>
            </a:endParaRPr>
          </a:p>
          <a:p>
            <a:pPr indent="0" lvl="0" marL="0" marR="0" rtl="0" algn="l">
              <a:lnSpc>
                <a:spcPct val="115000"/>
              </a:lnSpc>
              <a:spcBef>
                <a:spcPts val="1200"/>
              </a:spcBef>
              <a:spcAft>
                <a:spcPts val="0"/>
              </a:spcAft>
              <a:buClr>
                <a:srgbClr val="000000"/>
              </a:buClr>
              <a:buSzPts val="1350"/>
              <a:buFont typeface="Arial"/>
              <a:buNone/>
            </a:pPr>
            <a:r>
              <a:rPr b="1" i="0" lang="en-GB" sz="1350" u="none" cap="none" strike="noStrike">
                <a:solidFill>
                  <a:srgbClr val="001D35"/>
                </a:solidFill>
                <a:highlight>
                  <a:srgbClr val="FFFFFF"/>
                </a:highlight>
                <a:latin typeface="Arial"/>
                <a:ea typeface="Arial"/>
                <a:cs typeface="Arial"/>
                <a:sym typeface="Arial"/>
              </a:rPr>
              <a:t>Similarity Loss:</a:t>
            </a:r>
            <a:r>
              <a:rPr b="0" i="0" lang="en-GB" sz="1350" u="none" cap="none" strike="noStrike">
                <a:solidFill>
                  <a:srgbClr val="001D35"/>
                </a:solidFill>
                <a:highlight>
                  <a:srgbClr val="FFFFFF"/>
                </a:highlight>
                <a:latin typeface="Arial"/>
                <a:ea typeface="Arial"/>
                <a:cs typeface="Arial"/>
                <a:sym typeface="Arial"/>
              </a:rPr>
              <a:t> Contrastive, Triplet</a:t>
            </a:r>
            <a:endParaRPr b="0" i="0" sz="1350" u="none" cap="none" strike="noStrike">
              <a:solidFill>
                <a:srgbClr val="001D35"/>
              </a:solidFill>
              <a:highlight>
                <a:srgbClr val="FFFFFF"/>
              </a:highlight>
              <a:latin typeface="Arial"/>
              <a:ea typeface="Arial"/>
              <a:cs typeface="Arial"/>
              <a:sym typeface="Arial"/>
            </a:endParaRPr>
          </a:p>
          <a:p>
            <a:pPr indent="0" lvl="0" marL="0" marR="0" rtl="0" algn="l">
              <a:lnSpc>
                <a:spcPct val="115000"/>
              </a:lnSpc>
              <a:spcBef>
                <a:spcPts val="1200"/>
              </a:spcBef>
              <a:spcAft>
                <a:spcPts val="0"/>
              </a:spcAft>
              <a:buClr>
                <a:srgbClr val="000000"/>
              </a:buClr>
              <a:buSzPts val="1350"/>
              <a:buFont typeface="Arial"/>
              <a:buNone/>
            </a:pPr>
            <a:r>
              <a:t/>
            </a:r>
            <a:endParaRPr b="0" i="0" sz="1350" u="none" cap="none" strike="noStrike">
              <a:solidFill>
                <a:srgbClr val="001D35"/>
              </a:solidFill>
              <a:highlight>
                <a:srgbClr val="FFFFFF"/>
              </a:highlight>
              <a:latin typeface="Arial"/>
              <a:ea typeface="Arial"/>
              <a:cs typeface="Arial"/>
              <a:sym typeface="Arial"/>
            </a:endParaRPr>
          </a:p>
          <a:p>
            <a:pPr indent="0" lvl="0" marL="0" marR="0" rtl="0" algn="l">
              <a:lnSpc>
                <a:spcPct val="115000"/>
              </a:lnSpc>
              <a:spcBef>
                <a:spcPts val="1200"/>
              </a:spcBef>
              <a:spcAft>
                <a:spcPts val="0"/>
              </a:spcAft>
              <a:buClr>
                <a:srgbClr val="000000"/>
              </a:buClr>
              <a:buSzPts val="1350"/>
              <a:buFont typeface="Arial"/>
              <a:buNone/>
            </a:pPr>
            <a:r>
              <a:rPr b="1" i="0" lang="en-GB" sz="1350" u="none" cap="none" strike="noStrike">
                <a:solidFill>
                  <a:srgbClr val="001D35"/>
                </a:solidFill>
                <a:highlight>
                  <a:srgbClr val="FFFFFF"/>
                </a:highlight>
                <a:latin typeface="Arial"/>
                <a:ea typeface="Arial"/>
                <a:cs typeface="Arial"/>
                <a:sym typeface="Arial"/>
              </a:rPr>
              <a:t>Segmentation Loss:</a:t>
            </a:r>
            <a:r>
              <a:rPr b="0" i="0" lang="en-GB" sz="1350" u="none" cap="none" strike="noStrike">
                <a:solidFill>
                  <a:srgbClr val="001D35"/>
                </a:solidFill>
                <a:highlight>
                  <a:srgbClr val="FFFFFF"/>
                </a:highlight>
                <a:latin typeface="Arial"/>
                <a:ea typeface="Arial"/>
                <a:cs typeface="Arial"/>
                <a:sym typeface="Arial"/>
              </a:rPr>
              <a:t> Dice, Jaccard, IoU</a:t>
            </a:r>
            <a:endParaRPr b="0" i="0" sz="1350" u="none" cap="none" strike="noStrike">
              <a:solidFill>
                <a:srgbClr val="001D35"/>
              </a:solidFill>
              <a:highlight>
                <a:srgbClr val="FFFFFF"/>
              </a:highlight>
              <a:latin typeface="Arial"/>
              <a:ea typeface="Arial"/>
              <a:cs typeface="Arial"/>
              <a:sym typeface="Arial"/>
            </a:endParaRPr>
          </a:p>
          <a:p>
            <a:pPr indent="0" lvl="0" marL="0" marR="0" rtl="0" algn="l">
              <a:lnSpc>
                <a:spcPct val="115000"/>
              </a:lnSpc>
              <a:spcBef>
                <a:spcPts val="1200"/>
              </a:spcBef>
              <a:spcAft>
                <a:spcPts val="0"/>
              </a:spcAft>
              <a:buClr>
                <a:srgbClr val="000000"/>
              </a:buClr>
              <a:buSzPts val="1350"/>
              <a:buFont typeface="Arial"/>
              <a:buNone/>
            </a:pPr>
            <a:r>
              <a:t/>
            </a:r>
            <a:endParaRPr b="0" i="0" sz="1350" u="none" cap="none" strike="noStrike">
              <a:solidFill>
                <a:srgbClr val="001D35"/>
              </a:solidFill>
              <a:highlight>
                <a:srgbClr val="FFFFFF"/>
              </a:highlight>
              <a:latin typeface="Arial"/>
              <a:ea typeface="Arial"/>
              <a:cs typeface="Arial"/>
              <a:sym typeface="Arial"/>
            </a:endParaRPr>
          </a:p>
          <a:p>
            <a:pPr indent="0" lvl="0" marL="0" marR="0" rtl="0" algn="l">
              <a:lnSpc>
                <a:spcPct val="115000"/>
              </a:lnSpc>
              <a:spcBef>
                <a:spcPts val="1200"/>
              </a:spcBef>
              <a:spcAft>
                <a:spcPts val="0"/>
              </a:spcAft>
              <a:buClr>
                <a:srgbClr val="000000"/>
              </a:buClr>
              <a:buSzPts val="1350"/>
              <a:buFont typeface="Arial"/>
              <a:buNone/>
            </a:pPr>
            <a:r>
              <a:rPr b="1" i="0" lang="en-GB" sz="1350" u="none" cap="none" strike="noStrike">
                <a:solidFill>
                  <a:srgbClr val="001D35"/>
                </a:solidFill>
                <a:highlight>
                  <a:srgbClr val="FFFFFF"/>
                </a:highlight>
                <a:latin typeface="Arial"/>
                <a:ea typeface="Arial"/>
                <a:cs typeface="Arial"/>
                <a:sym typeface="Arial"/>
              </a:rPr>
              <a:t>Generation Loss:</a:t>
            </a:r>
            <a:r>
              <a:rPr b="0" i="0" lang="en-GB" sz="1350" u="none" cap="none" strike="noStrike">
                <a:solidFill>
                  <a:srgbClr val="001D35"/>
                </a:solidFill>
                <a:highlight>
                  <a:srgbClr val="FFFFFF"/>
                </a:highlight>
                <a:latin typeface="Arial"/>
                <a:ea typeface="Arial"/>
                <a:cs typeface="Arial"/>
                <a:sym typeface="Arial"/>
              </a:rPr>
              <a:t> KL-divergence, ELBO,Wasserstein</a:t>
            </a:r>
            <a:endParaRPr b="0" i="0" sz="1350" u="none" cap="none" strike="noStrike">
              <a:solidFill>
                <a:srgbClr val="001D35"/>
              </a:solidFill>
              <a:highlight>
                <a:srgbClr val="FFFFFF"/>
              </a:highlight>
              <a:latin typeface="Arial"/>
              <a:ea typeface="Arial"/>
              <a:cs typeface="Arial"/>
              <a:sym typeface="Arial"/>
            </a:endParaRPr>
          </a:p>
          <a:p>
            <a:pPr indent="0" lvl="0" marL="0" marR="0" rtl="0" algn="l">
              <a:lnSpc>
                <a:spcPct val="115000"/>
              </a:lnSpc>
              <a:spcBef>
                <a:spcPts val="1200"/>
              </a:spcBef>
              <a:spcAft>
                <a:spcPts val="1200"/>
              </a:spcAft>
              <a:buClr>
                <a:srgbClr val="000000"/>
              </a:buClr>
              <a:buSzPts val="1350"/>
              <a:buFont typeface="Arial"/>
              <a:buNone/>
            </a:pPr>
            <a:r>
              <a:t/>
            </a:r>
            <a:endParaRPr b="0" i="0" sz="1350" u="none" cap="none" strike="noStrike">
              <a:solidFill>
                <a:srgbClr val="001D35"/>
              </a:solidFill>
              <a:highlight>
                <a:srgbClr val="FFFFFF"/>
              </a:highlight>
              <a:latin typeface="Arial"/>
              <a:ea typeface="Arial"/>
              <a:cs typeface="Arial"/>
              <a:sym typeface="Arial"/>
            </a:endParaRPr>
          </a:p>
        </p:txBody>
      </p:sp>
      <p:pic>
        <p:nvPicPr>
          <p:cNvPr id="84" name="Google Shape;84;p17"/>
          <p:cNvPicPr preferRelativeResize="0"/>
          <p:nvPr/>
        </p:nvPicPr>
        <p:blipFill rotWithShape="1">
          <a:blip r:embed="rId4">
            <a:alphaModFix/>
          </a:blip>
          <a:srcRect b="0" l="0" r="0" t="0"/>
          <a:stretch/>
        </p:blipFill>
        <p:spPr>
          <a:xfrm>
            <a:off x="3602725" y="1841500"/>
            <a:ext cx="5460449" cy="1629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0" y="-1179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Back Propagation (Optimization)</a:t>
            </a:r>
            <a:endParaRPr/>
          </a:p>
        </p:txBody>
      </p:sp>
      <p:sp>
        <p:nvSpPr>
          <p:cNvPr id="90" name="Google Shape;90;p18"/>
          <p:cNvSpPr txBox="1"/>
          <p:nvPr>
            <p:ph idx="1" type="body"/>
          </p:nvPr>
        </p:nvSpPr>
        <p:spPr>
          <a:xfrm>
            <a:off x="0" y="616850"/>
            <a:ext cx="9144000" cy="4526700"/>
          </a:xfrm>
          <a:prstGeom prst="rect">
            <a:avLst/>
          </a:prstGeom>
          <a:noFill/>
          <a:ln>
            <a:noFill/>
          </a:ln>
        </p:spPr>
        <p:txBody>
          <a:bodyPr anchorCtr="0" anchor="t" bIns="91425" lIns="91425" spcFirstLastPara="1" rIns="91425" wrap="square" tIns="91425">
            <a:normAutofit fontScale="85000" lnSpcReduction="20000"/>
          </a:bodyPr>
          <a:lstStyle/>
          <a:p>
            <a:pPr indent="0" lvl="0" marL="0" marR="0" rtl="0" algn="l">
              <a:lnSpc>
                <a:spcPct val="115000"/>
              </a:lnSpc>
              <a:spcBef>
                <a:spcPts val="0"/>
              </a:spcBef>
              <a:spcAft>
                <a:spcPts val="0"/>
              </a:spcAft>
              <a:buSzPct val="136622"/>
              <a:buNone/>
            </a:pPr>
            <a:r>
              <a:rPr b="1" lang="en-GB" sz="1550">
                <a:solidFill>
                  <a:schemeClr val="dk1"/>
                </a:solidFill>
                <a:highlight>
                  <a:srgbClr val="FFFFFF"/>
                </a:highlight>
              </a:rPr>
              <a:t>Exponentially weighted moving average SGD</a:t>
            </a:r>
            <a:r>
              <a:rPr lang="en-GB" sz="1550">
                <a:solidFill>
                  <a:schemeClr val="dk1"/>
                </a:solidFill>
                <a:highlight>
                  <a:srgbClr val="FFFFFF"/>
                </a:highlight>
              </a:rPr>
              <a:t>: Calculates a weighted average of past gradients for smoother updates.</a:t>
            </a:r>
            <a:endParaRPr sz="1550">
              <a:solidFill>
                <a:schemeClr val="dk1"/>
              </a:solidFill>
              <a:highlight>
                <a:srgbClr val="FFFFFF"/>
              </a:highlight>
            </a:endParaRPr>
          </a:p>
          <a:p>
            <a:pPr indent="0" lvl="0" marL="0" marR="0" rtl="0" algn="l">
              <a:lnSpc>
                <a:spcPct val="115000"/>
              </a:lnSpc>
              <a:spcBef>
                <a:spcPts val="1200"/>
              </a:spcBef>
              <a:spcAft>
                <a:spcPts val="0"/>
              </a:spcAft>
              <a:buSzPct val="136622"/>
              <a:buNone/>
            </a:pPr>
            <a:r>
              <a:rPr b="1" lang="en-GB" sz="1550">
                <a:solidFill>
                  <a:schemeClr val="dk1"/>
                </a:solidFill>
                <a:highlight>
                  <a:srgbClr val="FFFFFF"/>
                </a:highlight>
              </a:rPr>
              <a:t>Momentum SGD</a:t>
            </a:r>
            <a:r>
              <a:rPr lang="en-GB" sz="1550">
                <a:solidFill>
                  <a:schemeClr val="dk1"/>
                </a:solidFill>
                <a:highlight>
                  <a:srgbClr val="FFFFFF"/>
                </a:highlight>
              </a:rPr>
              <a:t>: Adds a fraction of the previous update to the current update, accelerating descent in consistent directions.</a:t>
            </a:r>
            <a:endParaRPr sz="1550">
              <a:solidFill>
                <a:schemeClr val="dk1"/>
              </a:solidFill>
              <a:highlight>
                <a:srgbClr val="FFFFFF"/>
              </a:highlight>
            </a:endParaRPr>
          </a:p>
          <a:p>
            <a:pPr indent="0" lvl="0" marL="0" marR="0" rtl="0" algn="l">
              <a:lnSpc>
                <a:spcPct val="115000"/>
              </a:lnSpc>
              <a:spcBef>
                <a:spcPts val="1200"/>
              </a:spcBef>
              <a:spcAft>
                <a:spcPts val="0"/>
              </a:spcAft>
              <a:buSzPct val="136622"/>
              <a:buNone/>
            </a:pPr>
            <a:r>
              <a:rPr b="1" lang="en-GB" sz="1550">
                <a:solidFill>
                  <a:schemeClr val="dk1"/>
                </a:solidFill>
                <a:highlight>
                  <a:srgbClr val="FFFFFF"/>
                </a:highlight>
              </a:rPr>
              <a:t>Nesterov accelerated gradient:</a:t>
            </a:r>
            <a:r>
              <a:rPr lang="en-GB" sz="1550">
                <a:solidFill>
                  <a:schemeClr val="dk1"/>
                </a:solidFill>
                <a:highlight>
                  <a:srgbClr val="FFFFFF"/>
                </a:highlight>
              </a:rPr>
              <a:t> Looks ahead by a momentum term before computing the gradient, improving responsiveness.</a:t>
            </a:r>
            <a:endParaRPr sz="1550">
              <a:solidFill>
                <a:schemeClr val="dk1"/>
              </a:solidFill>
              <a:highlight>
                <a:srgbClr val="FFFFFF"/>
              </a:highlight>
            </a:endParaRPr>
          </a:p>
          <a:p>
            <a:pPr indent="0" lvl="0" marL="0" marR="0" rtl="0" algn="l">
              <a:lnSpc>
                <a:spcPct val="115000"/>
              </a:lnSpc>
              <a:spcBef>
                <a:spcPts val="1200"/>
              </a:spcBef>
              <a:spcAft>
                <a:spcPts val="0"/>
              </a:spcAft>
              <a:buSzPct val="136622"/>
              <a:buNone/>
            </a:pPr>
            <a:r>
              <a:rPr b="1" lang="en-GB" sz="1550">
                <a:solidFill>
                  <a:schemeClr val="dk1"/>
                </a:solidFill>
                <a:highlight>
                  <a:srgbClr val="FFFFFF"/>
                </a:highlight>
              </a:rPr>
              <a:t>Adagrad</a:t>
            </a:r>
            <a:r>
              <a:rPr lang="en-GB" sz="1550">
                <a:solidFill>
                  <a:schemeClr val="dk1"/>
                </a:solidFill>
                <a:highlight>
                  <a:srgbClr val="FFFFFF"/>
                </a:highlight>
              </a:rPr>
              <a:t>: Adapts the learning rate for each parameter based on the sum of squared gradients.</a:t>
            </a:r>
            <a:endParaRPr sz="1550">
              <a:solidFill>
                <a:schemeClr val="dk1"/>
              </a:solidFill>
              <a:highlight>
                <a:srgbClr val="FFFFFF"/>
              </a:highlight>
            </a:endParaRPr>
          </a:p>
          <a:p>
            <a:pPr indent="0" lvl="0" marL="0" marR="0" rtl="0" algn="l">
              <a:lnSpc>
                <a:spcPct val="115000"/>
              </a:lnSpc>
              <a:spcBef>
                <a:spcPts val="1200"/>
              </a:spcBef>
              <a:spcAft>
                <a:spcPts val="0"/>
              </a:spcAft>
              <a:buSzPct val="136622"/>
              <a:buNone/>
            </a:pPr>
            <a:r>
              <a:rPr b="1" lang="en-GB" sz="1550">
                <a:solidFill>
                  <a:schemeClr val="dk1"/>
                </a:solidFill>
                <a:highlight>
                  <a:srgbClr val="FFFFFF"/>
                </a:highlight>
              </a:rPr>
              <a:t>RMSprop</a:t>
            </a:r>
            <a:r>
              <a:rPr lang="en-GB" sz="1550">
                <a:solidFill>
                  <a:schemeClr val="dk1"/>
                </a:solidFill>
                <a:highlight>
                  <a:srgbClr val="FFFFFF"/>
                </a:highlight>
              </a:rPr>
              <a:t>: Adapts the learning rate using an exponentially decaying average of squared gradients.</a:t>
            </a:r>
            <a:endParaRPr sz="1550">
              <a:solidFill>
                <a:schemeClr val="dk1"/>
              </a:solidFill>
              <a:highlight>
                <a:srgbClr val="FFFFFF"/>
              </a:highlight>
            </a:endParaRPr>
          </a:p>
          <a:p>
            <a:pPr indent="0" lvl="0" marL="0" marR="0" rtl="0" algn="l">
              <a:lnSpc>
                <a:spcPct val="115000"/>
              </a:lnSpc>
              <a:spcBef>
                <a:spcPts val="1200"/>
              </a:spcBef>
              <a:spcAft>
                <a:spcPts val="0"/>
              </a:spcAft>
              <a:buSzPct val="136622"/>
              <a:buNone/>
            </a:pPr>
            <a:r>
              <a:rPr b="1" lang="en-GB" sz="1550">
                <a:solidFill>
                  <a:schemeClr val="dk1"/>
                </a:solidFill>
                <a:highlight>
                  <a:srgbClr val="FFFFFF"/>
                </a:highlight>
              </a:rPr>
              <a:t>Adam</a:t>
            </a:r>
            <a:r>
              <a:rPr lang="en-GB" sz="1550">
                <a:solidFill>
                  <a:schemeClr val="dk1"/>
                </a:solidFill>
                <a:highlight>
                  <a:srgbClr val="FFFFFF"/>
                </a:highlight>
              </a:rPr>
              <a:t>: Combines momentum and adaptive learning rates, using exponentially decaying averages of both first and second moments of the gradients. </a:t>
            </a:r>
            <a:endParaRPr sz="1550">
              <a:solidFill>
                <a:schemeClr val="dk1"/>
              </a:solidFill>
              <a:highlight>
                <a:srgbClr val="FFFFFF"/>
              </a:highlight>
            </a:endParaRPr>
          </a:p>
          <a:p>
            <a:pPr indent="0" lvl="0" marL="0" marR="0" rtl="0" algn="l">
              <a:lnSpc>
                <a:spcPct val="115000"/>
              </a:lnSpc>
              <a:spcBef>
                <a:spcPts val="1200"/>
              </a:spcBef>
              <a:spcAft>
                <a:spcPts val="0"/>
              </a:spcAft>
              <a:buSzPct val="136622"/>
              <a:buNone/>
            </a:pPr>
            <a:r>
              <a:rPr b="1" lang="en-GB" sz="1550">
                <a:solidFill>
                  <a:schemeClr val="dk1"/>
                </a:solidFill>
                <a:highlight>
                  <a:srgbClr val="FFFFFF"/>
                </a:highlight>
              </a:rPr>
              <a:t>LARS</a:t>
            </a:r>
            <a:r>
              <a:rPr lang="en-GB" sz="1550">
                <a:solidFill>
                  <a:schemeClr val="dk1"/>
                </a:solidFill>
                <a:highlight>
                  <a:srgbClr val="FFFFFF"/>
                </a:highlight>
              </a:rPr>
              <a:t>: LARS is based on the Heavy-ball momentum method. Best suited for large-batch training, especially in convolutional neural networks (CNNs).</a:t>
            </a:r>
            <a:endParaRPr sz="1550">
              <a:solidFill>
                <a:schemeClr val="dk1"/>
              </a:solidFill>
              <a:highlight>
                <a:srgbClr val="FFFFFF"/>
              </a:highlight>
            </a:endParaRPr>
          </a:p>
          <a:p>
            <a:pPr indent="0" lvl="0" marL="0" marR="0" rtl="0" algn="l">
              <a:lnSpc>
                <a:spcPct val="115000"/>
              </a:lnSpc>
              <a:spcBef>
                <a:spcPts val="1200"/>
              </a:spcBef>
              <a:spcAft>
                <a:spcPts val="1200"/>
              </a:spcAft>
              <a:buSzPct val="136622"/>
              <a:buNone/>
            </a:pPr>
            <a:r>
              <a:rPr b="1" lang="en-GB" sz="1550">
                <a:solidFill>
                  <a:schemeClr val="dk1"/>
                </a:solidFill>
                <a:highlight>
                  <a:srgbClr val="FFFFFF"/>
                </a:highlight>
              </a:rPr>
              <a:t>LAMB</a:t>
            </a:r>
            <a:r>
              <a:rPr lang="en-GB" sz="1550">
                <a:solidFill>
                  <a:schemeClr val="dk1"/>
                </a:solidFill>
                <a:highlight>
                  <a:srgbClr val="FFFFFF"/>
                </a:highlight>
              </a:rPr>
              <a:t> (Layerwise Adaptive Moments optimizer): optimizer is primarily used for large batch training in deep learning models, particularly in Natural Language Processing (NLP) tasks. It is designed to handle large batch sizes effectively, allowing for faster training and improved convergence. LAMB combines ideas from LARS and Adam, automatically scaling the learning rate for each layer and adapting to the layer-wise weight and gradient norms. Works well for both large and small batch training, especially for transformer models, and combines benefits of LARS with momentum-based updates.</a:t>
            </a:r>
            <a:endParaRPr sz="1550">
              <a:solidFill>
                <a:schemeClr val="dk1"/>
              </a:solidFill>
              <a:highlight>
                <a:srgbClr val="FFFFFF"/>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9"/>
          <p:cNvPicPr preferRelativeResize="0"/>
          <p:nvPr/>
        </p:nvPicPr>
        <p:blipFill rotWithShape="1">
          <a:blip r:embed="rId3">
            <a:alphaModFix/>
          </a:blip>
          <a:srcRect b="0" l="0" r="0" t="0"/>
          <a:stretch/>
        </p:blipFill>
        <p:spPr>
          <a:xfrm>
            <a:off x="1750600" y="0"/>
            <a:ext cx="5397525"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20"/>
          <p:cNvPicPr preferRelativeResize="0"/>
          <p:nvPr/>
        </p:nvPicPr>
        <p:blipFill rotWithShape="1">
          <a:blip r:embed="rId3">
            <a:alphaModFix/>
          </a:blip>
          <a:srcRect b="0" l="0" r="0" t="0"/>
          <a:stretch/>
        </p:blipFill>
        <p:spPr>
          <a:xfrm>
            <a:off x="43525" y="152400"/>
            <a:ext cx="4764326" cy="4838700"/>
          </a:xfrm>
          <a:prstGeom prst="rect">
            <a:avLst/>
          </a:prstGeom>
          <a:noFill/>
          <a:ln>
            <a:noFill/>
          </a:ln>
        </p:spPr>
      </p:pic>
      <p:pic>
        <p:nvPicPr>
          <p:cNvPr id="101" name="Google Shape;101;p20"/>
          <p:cNvPicPr preferRelativeResize="0"/>
          <p:nvPr/>
        </p:nvPicPr>
        <p:blipFill rotWithShape="1">
          <a:blip r:embed="rId4">
            <a:alphaModFix/>
          </a:blip>
          <a:srcRect b="0" l="0" r="0" t="0"/>
          <a:stretch/>
        </p:blipFill>
        <p:spPr>
          <a:xfrm>
            <a:off x="4807850" y="234950"/>
            <a:ext cx="4336151" cy="4756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0" y="750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Weight Initialization</a:t>
            </a:r>
            <a:endParaRPr/>
          </a:p>
        </p:txBody>
      </p:sp>
      <p:sp>
        <p:nvSpPr>
          <p:cNvPr id="107" name="Google Shape;107;p21"/>
          <p:cNvSpPr txBox="1"/>
          <p:nvPr>
            <p:ph idx="1" type="body"/>
          </p:nvPr>
        </p:nvSpPr>
        <p:spPr>
          <a:xfrm>
            <a:off x="106025" y="25341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GB" sz="1600">
                <a:solidFill>
                  <a:schemeClr val="dk1"/>
                </a:solidFill>
                <a:highlight>
                  <a:srgbClr val="FFFFFF"/>
                </a:highlight>
              </a:rPr>
              <a:t>Xavier/Glorot and HE/Kaiming initialization is a weight initialization method that scales weights according to the number of input and output units to maintain variance across layers, preventing gradients from vanishing or exploding.</a:t>
            </a:r>
            <a:endParaRPr sz="1600">
              <a:solidFill>
                <a:schemeClr val="dk1"/>
              </a:solidFill>
            </a:endParaRPr>
          </a:p>
          <a:p>
            <a:pPr indent="0" lvl="0" marL="0" rtl="0" algn="l">
              <a:lnSpc>
                <a:spcPct val="115000"/>
              </a:lnSpc>
              <a:spcBef>
                <a:spcPts val="1200"/>
              </a:spcBef>
              <a:spcAft>
                <a:spcPts val="0"/>
              </a:spcAft>
              <a:buSzPts val="1800"/>
              <a:buNone/>
            </a:pPr>
            <a:r>
              <a:t/>
            </a:r>
            <a:endParaRPr sz="1600">
              <a:solidFill>
                <a:schemeClr val="dk1"/>
              </a:solidFill>
            </a:endParaRPr>
          </a:p>
          <a:p>
            <a:pPr indent="0" lvl="0" marL="0" rtl="0" algn="l">
              <a:lnSpc>
                <a:spcPct val="115000"/>
              </a:lnSpc>
              <a:spcBef>
                <a:spcPts val="1200"/>
              </a:spcBef>
              <a:spcAft>
                <a:spcPts val="1200"/>
              </a:spcAft>
              <a:buSzPts val="1800"/>
              <a:buNone/>
            </a:pPr>
            <a:r>
              <a:rPr lang="en-GB" sz="1600">
                <a:solidFill>
                  <a:schemeClr val="dk1"/>
                </a:solidFill>
                <a:highlight>
                  <a:srgbClr val="D3E3FD"/>
                </a:highlight>
              </a:rPr>
              <a:t>Xavier initialization is generally better for sigmoid and tanh activations, while He initialization is preferred for ReLU and its variants</a:t>
            </a:r>
            <a:r>
              <a:rPr lang="en-GB" sz="1600">
                <a:solidFill>
                  <a:schemeClr val="dk1"/>
                </a:solidFill>
                <a:highlight>
                  <a:srgbClr val="FFFFFF"/>
                </a:highlight>
              </a:rPr>
              <a:t>. The key difference lies in the scaling factor used to initialize the weights, which is tailored to the properties of each activation function. </a:t>
            </a:r>
            <a:endParaRPr sz="1600">
              <a:solidFill>
                <a:schemeClr val="dk1"/>
              </a:solidFill>
            </a:endParaRPr>
          </a:p>
        </p:txBody>
      </p:sp>
      <p:pic>
        <p:nvPicPr>
          <p:cNvPr id="108" name="Google Shape;108;p21"/>
          <p:cNvPicPr preferRelativeResize="0"/>
          <p:nvPr/>
        </p:nvPicPr>
        <p:blipFill rotWithShape="1">
          <a:blip r:embed="rId3">
            <a:alphaModFix/>
          </a:blip>
          <a:srcRect b="0" l="0" r="0" t="0"/>
          <a:stretch/>
        </p:blipFill>
        <p:spPr>
          <a:xfrm>
            <a:off x="106025" y="728938"/>
            <a:ext cx="5629275" cy="1724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0" y="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HyperParameters</a:t>
            </a:r>
            <a:endParaRPr/>
          </a:p>
        </p:txBody>
      </p:sp>
      <p:sp>
        <p:nvSpPr>
          <p:cNvPr id="114" name="Google Shape;114;p22"/>
          <p:cNvSpPr txBox="1"/>
          <p:nvPr>
            <p:ph idx="1" type="body"/>
          </p:nvPr>
        </p:nvSpPr>
        <p:spPr>
          <a:xfrm>
            <a:off x="0" y="1887275"/>
            <a:ext cx="8520600" cy="4217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800"/>
              <a:buNone/>
            </a:pPr>
            <a:r>
              <a:rPr lang="en-GB" sz="1400">
                <a:solidFill>
                  <a:schemeClr val="dk1"/>
                </a:solidFill>
              </a:rPr>
              <a:t>Hyperparameter tuning:</a:t>
            </a:r>
            <a:endParaRPr sz="1400">
              <a:solidFill>
                <a:schemeClr val="dk1"/>
              </a:solidFill>
            </a:endParaRPr>
          </a:p>
          <a:p>
            <a:pPr indent="-317500" lvl="0" marL="457200" rtl="0" algn="just">
              <a:lnSpc>
                <a:spcPct val="115000"/>
              </a:lnSpc>
              <a:spcBef>
                <a:spcPts val="1200"/>
              </a:spcBef>
              <a:spcAft>
                <a:spcPts val="0"/>
              </a:spcAft>
              <a:buClr>
                <a:schemeClr val="dk1"/>
              </a:buClr>
              <a:buSzPts val="1400"/>
              <a:buChar char="●"/>
            </a:pPr>
            <a:r>
              <a:rPr lang="en-GB" sz="1400">
                <a:solidFill>
                  <a:schemeClr val="dk1"/>
                </a:solidFill>
              </a:rPr>
              <a:t>Keras Tuner</a:t>
            </a:r>
            <a:endParaRPr sz="1400">
              <a:solidFill>
                <a:schemeClr val="dk1"/>
              </a:solidFill>
            </a:endParaRPr>
          </a:p>
          <a:p>
            <a:pPr indent="-317500" lvl="0" marL="457200" rtl="0" algn="just">
              <a:lnSpc>
                <a:spcPct val="115000"/>
              </a:lnSpc>
              <a:spcBef>
                <a:spcPts val="0"/>
              </a:spcBef>
              <a:spcAft>
                <a:spcPts val="0"/>
              </a:spcAft>
              <a:buClr>
                <a:schemeClr val="dk1"/>
              </a:buClr>
              <a:buSzPts val="1400"/>
              <a:buChar char="●"/>
            </a:pPr>
            <a:r>
              <a:rPr lang="en-GB" sz="1400">
                <a:solidFill>
                  <a:schemeClr val="dk1"/>
                </a:solidFill>
              </a:rPr>
              <a:t>Weights and biases</a:t>
            </a:r>
            <a:endParaRPr b="1" sz="1400">
              <a:solidFill>
                <a:schemeClr val="dk1"/>
              </a:solidFill>
            </a:endParaRPr>
          </a:p>
          <a:p>
            <a:pPr indent="-317500" lvl="0" marL="457200" rtl="0" algn="just">
              <a:lnSpc>
                <a:spcPct val="115000"/>
              </a:lnSpc>
              <a:spcBef>
                <a:spcPts val="0"/>
              </a:spcBef>
              <a:spcAft>
                <a:spcPts val="0"/>
              </a:spcAft>
              <a:buClr>
                <a:schemeClr val="dk1"/>
              </a:buClr>
              <a:buSzPts val="1400"/>
              <a:buFont typeface="Nunito"/>
              <a:buChar char="●"/>
            </a:pPr>
            <a:r>
              <a:rPr lang="en-GB" sz="1400">
                <a:solidFill>
                  <a:schemeClr val="dk1"/>
                </a:solidFill>
                <a:highlight>
                  <a:srgbClr val="FFFFFF"/>
                </a:highlight>
                <a:latin typeface="Nunito"/>
                <a:ea typeface="Nunito"/>
                <a:cs typeface="Nunito"/>
                <a:sym typeface="Nunito"/>
              </a:rPr>
              <a:t>Neural Architecture Search (NAS) is a cutting-edge technique in the field of</a:t>
            </a:r>
            <a:r>
              <a:rPr lang="en-GB" sz="1400" u="sng">
                <a:solidFill>
                  <a:schemeClr val="hlink"/>
                </a:solidFill>
                <a:highlight>
                  <a:srgbClr val="FFFFFF"/>
                </a:highlight>
                <a:latin typeface="Nunito"/>
                <a:ea typeface="Nunito"/>
                <a:cs typeface="Nunito"/>
                <a:sym typeface="Nunito"/>
                <a:hlinkClick r:id="rId3"/>
              </a:rPr>
              <a:t> automated machine learning (AutoML)</a:t>
            </a:r>
            <a:r>
              <a:rPr lang="en-GB" sz="1400">
                <a:solidFill>
                  <a:schemeClr val="dk1"/>
                </a:solidFill>
                <a:highlight>
                  <a:srgbClr val="FFFFFF"/>
                </a:highlight>
                <a:latin typeface="Nunito"/>
                <a:ea typeface="Nunito"/>
                <a:cs typeface="Nunito"/>
                <a:sym typeface="Nunito"/>
              </a:rPr>
              <a:t> that aims to automate the design of neural networks. Traditional </a:t>
            </a:r>
            <a:r>
              <a:rPr lang="en-GB" sz="1400" u="sng">
                <a:solidFill>
                  <a:schemeClr val="hlink"/>
                </a:solidFill>
                <a:highlight>
                  <a:srgbClr val="FFFFFF"/>
                </a:highlight>
                <a:latin typeface="Nunito"/>
                <a:ea typeface="Nunito"/>
                <a:cs typeface="Nunito"/>
                <a:sym typeface="Nunito"/>
                <a:hlinkClick r:id="rId4"/>
              </a:rPr>
              <a:t>neural network</a:t>
            </a:r>
            <a:r>
              <a:rPr lang="en-GB" sz="1400">
                <a:solidFill>
                  <a:schemeClr val="dk1"/>
                </a:solidFill>
                <a:highlight>
                  <a:srgbClr val="FFFFFF"/>
                </a:highlight>
                <a:latin typeface="Nunito"/>
                <a:ea typeface="Nunito"/>
                <a:cs typeface="Nunito"/>
                <a:sym typeface="Nunito"/>
              </a:rPr>
              <a:t> architecture design often relies on human expertise, which is a time-consuming process. NAS automates this by using search algorithms to explore and discover optimal </a:t>
            </a:r>
            <a:r>
              <a:rPr lang="en-GB" sz="1400" u="sng">
                <a:solidFill>
                  <a:schemeClr val="hlink"/>
                </a:solidFill>
                <a:highlight>
                  <a:srgbClr val="FFFFFF"/>
                </a:highlight>
                <a:latin typeface="Nunito"/>
                <a:ea typeface="Nunito"/>
                <a:cs typeface="Nunito"/>
                <a:sym typeface="Nunito"/>
                <a:hlinkClick r:id="rId5"/>
              </a:rPr>
              <a:t>neural network architectures</a:t>
            </a:r>
            <a:r>
              <a:rPr lang="en-GB" sz="1400">
                <a:solidFill>
                  <a:schemeClr val="dk1"/>
                </a:solidFill>
                <a:highlight>
                  <a:srgbClr val="FFFFFF"/>
                </a:highlight>
                <a:latin typeface="Nunito"/>
                <a:ea typeface="Nunito"/>
                <a:cs typeface="Nunito"/>
                <a:sym typeface="Nunito"/>
              </a:rPr>
              <a:t> for specific tasks. It involves defining a search space of possible architectures and then employing optimization methods, such as random search, bayesian optimization, evolutionary/genetic algorithms or</a:t>
            </a:r>
            <a:r>
              <a:rPr lang="en-GB" sz="1400" u="sng">
                <a:solidFill>
                  <a:schemeClr val="hlink"/>
                </a:solidFill>
                <a:highlight>
                  <a:srgbClr val="FFFFFF"/>
                </a:highlight>
                <a:latin typeface="Nunito"/>
                <a:ea typeface="Nunito"/>
                <a:cs typeface="Nunito"/>
                <a:sym typeface="Nunito"/>
                <a:hlinkClick r:id="rId6"/>
              </a:rPr>
              <a:t> reinforcement learning</a:t>
            </a:r>
            <a:r>
              <a:rPr lang="en-GB" sz="1400">
                <a:solidFill>
                  <a:schemeClr val="dk1"/>
                </a:solidFill>
                <a:highlight>
                  <a:srgbClr val="FFFFFF"/>
                </a:highlight>
                <a:latin typeface="Nunito"/>
                <a:ea typeface="Nunito"/>
                <a:cs typeface="Nunito"/>
                <a:sym typeface="Nunito"/>
              </a:rPr>
              <a:t>, to find the most effective architecture. NAS has shown promising results in outperforming manually designed networks in various tasks, including image recognition and </a:t>
            </a:r>
            <a:r>
              <a:rPr lang="en-GB" sz="1400" u="sng">
                <a:solidFill>
                  <a:schemeClr val="hlink"/>
                </a:solidFill>
                <a:highlight>
                  <a:srgbClr val="FFFFFF"/>
                </a:highlight>
                <a:latin typeface="Nunito"/>
                <a:ea typeface="Nunito"/>
                <a:cs typeface="Nunito"/>
                <a:sym typeface="Nunito"/>
                <a:hlinkClick r:id="rId7"/>
              </a:rPr>
              <a:t>natural language processing</a:t>
            </a:r>
            <a:r>
              <a:rPr lang="en-GB" sz="1400">
                <a:solidFill>
                  <a:schemeClr val="dk1"/>
                </a:solidFill>
                <a:highlight>
                  <a:srgbClr val="FFFFFF"/>
                </a:highlight>
                <a:latin typeface="Nunito"/>
                <a:ea typeface="Nunito"/>
                <a:cs typeface="Nunito"/>
                <a:sym typeface="Nunito"/>
              </a:rPr>
              <a:t>.</a:t>
            </a:r>
            <a:endParaRPr sz="1400">
              <a:solidFill>
                <a:schemeClr val="dk1"/>
              </a:solidFill>
              <a:highlight>
                <a:srgbClr val="FFFFFF"/>
              </a:highlight>
              <a:latin typeface="Nunito"/>
              <a:ea typeface="Nunito"/>
              <a:cs typeface="Nunito"/>
              <a:sym typeface="Nunito"/>
            </a:endParaRPr>
          </a:p>
          <a:p>
            <a:pPr indent="0" lvl="0" marL="0" rtl="0" algn="just">
              <a:lnSpc>
                <a:spcPct val="115000"/>
              </a:lnSpc>
              <a:spcBef>
                <a:spcPts val="800"/>
              </a:spcBef>
              <a:spcAft>
                <a:spcPts val="1200"/>
              </a:spcAft>
              <a:buSzPts val="1800"/>
              <a:buNone/>
            </a:pPr>
            <a:r>
              <a:t/>
            </a:r>
            <a:endParaRPr sz="1400">
              <a:solidFill>
                <a:schemeClr val="dk1"/>
              </a:solidFill>
            </a:endParaRPr>
          </a:p>
        </p:txBody>
      </p:sp>
      <p:pic>
        <p:nvPicPr>
          <p:cNvPr id="115" name="Google Shape;115;p22"/>
          <p:cNvPicPr preferRelativeResize="0"/>
          <p:nvPr/>
        </p:nvPicPr>
        <p:blipFill rotWithShape="1">
          <a:blip r:embed="rId8">
            <a:alphaModFix/>
          </a:blip>
          <a:srcRect b="0" l="0" r="0" t="10369"/>
          <a:stretch/>
        </p:blipFill>
        <p:spPr>
          <a:xfrm>
            <a:off x="3829694" y="0"/>
            <a:ext cx="5214506" cy="2799050"/>
          </a:xfrm>
          <a:prstGeom prst="rect">
            <a:avLst/>
          </a:prstGeom>
          <a:noFill/>
          <a:ln>
            <a:noFill/>
          </a:ln>
        </p:spPr>
      </p:pic>
      <p:pic>
        <p:nvPicPr>
          <p:cNvPr id="116" name="Google Shape;116;p22"/>
          <p:cNvPicPr preferRelativeResize="0"/>
          <p:nvPr/>
        </p:nvPicPr>
        <p:blipFill rotWithShape="1">
          <a:blip r:embed="rId9">
            <a:alphaModFix/>
          </a:blip>
          <a:srcRect b="0" l="0" r="0" t="0"/>
          <a:stretch/>
        </p:blipFill>
        <p:spPr>
          <a:xfrm>
            <a:off x="107300" y="648900"/>
            <a:ext cx="2297937" cy="1162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ph type="title"/>
          </p:nvPr>
        </p:nvSpPr>
        <p:spPr>
          <a:xfrm>
            <a:off x="0" y="1895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Performance Improvement </a:t>
            </a:r>
            <a:endParaRPr/>
          </a:p>
        </p:txBody>
      </p:sp>
      <p:sp>
        <p:nvSpPr>
          <p:cNvPr id="122" name="Google Shape;122;p23"/>
          <p:cNvSpPr txBox="1"/>
          <p:nvPr>
            <p:ph idx="1" type="body"/>
          </p:nvPr>
        </p:nvSpPr>
        <p:spPr>
          <a:xfrm>
            <a:off x="24000" y="1118925"/>
            <a:ext cx="9096000" cy="447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i="1" lang="en-GB" sz="1400">
                <a:solidFill>
                  <a:schemeClr val="dk1"/>
                </a:solidFill>
              </a:rPr>
              <a:t>Bias Variance tradeoff (Both low are required but are inversely proportional to each other)</a:t>
            </a:r>
            <a:endParaRPr b="1" i="1" sz="1400">
              <a:solidFill>
                <a:schemeClr val="dk1"/>
              </a:solidFill>
            </a:endParaRPr>
          </a:p>
          <a:p>
            <a:pPr indent="0" lvl="0" marL="0" rtl="0" algn="l">
              <a:lnSpc>
                <a:spcPct val="115000"/>
              </a:lnSpc>
              <a:spcBef>
                <a:spcPts val="1200"/>
              </a:spcBef>
              <a:spcAft>
                <a:spcPts val="0"/>
              </a:spcAft>
              <a:buSzPts val="1800"/>
              <a:buNone/>
            </a:pPr>
            <a:r>
              <a:rPr lang="en-GB" sz="1400">
                <a:solidFill>
                  <a:schemeClr val="dk1"/>
                </a:solidFill>
                <a:highlight>
                  <a:schemeClr val="accent6"/>
                </a:highlight>
              </a:rPr>
              <a:t>Overfitting (High Variance Low bias) Prevention:</a:t>
            </a:r>
            <a:endParaRPr sz="1400">
              <a:solidFill>
                <a:schemeClr val="dk1"/>
              </a:solidFill>
              <a:highlight>
                <a:schemeClr val="accent6"/>
              </a:highlight>
            </a:endParaRPr>
          </a:p>
          <a:p>
            <a:pPr indent="-317500" lvl="0" marL="457200" rtl="0" algn="l">
              <a:lnSpc>
                <a:spcPct val="115000"/>
              </a:lnSpc>
              <a:spcBef>
                <a:spcPts val="1200"/>
              </a:spcBef>
              <a:spcAft>
                <a:spcPts val="0"/>
              </a:spcAft>
              <a:buClr>
                <a:schemeClr val="dk1"/>
              </a:buClr>
              <a:buSzPts val="1400"/>
              <a:buChar char="●"/>
            </a:pPr>
            <a:r>
              <a:rPr lang="en-GB" sz="1400">
                <a:solidFill>
                  <a:schemeClr val="dk1"/>
                </a:solidFill>
                <a:highlight>
                  <a:srgbClr val="FFFFFF"/>
                </a:highlight>
              </a:rPr>
              <a:t>Regularization (Weight decay)</a:t>
            </a:r>
            <a:r>
              <a:rPr b="1" lang="en-GB" sz="1400">
                <a:solidFill>
                  <a:schemeClr val="dk1"/>
                </a:solidFill>
                <a:highlight>
                  <a:srgbClr val="FFFFFF"/>
                </a:highlight>
              </a:rPr>
              <a:t>: </a:t>
            </a:r>
            <a:r>
              <a:rPr lang="en-GB" sz="1400">
                <a:solidFill>
                  <a:schemeClr val="dk1"/>
                </a:solidFill>
                <a:highlight>
                  <a:srgbClr val="FFFFFF"/>
                </a:highlight>
              </a:rPr>
              <a:t>A form of L2 regularization applied during optimization. </a:t>
            </a:r>
            <a:endParaRPr sz="1400">
              <a:solidFill>
                <a:schemeClr val="dk1"/>
              </a:solidFill>
              <a:highlight>
                <a:srgbClr val="FFFFFF"/>
              </a:highlight>
            </a:endParaRPr>
          </a:p>
          <a:p>
            <a:pPr indent="-317500" lvl="0" marL="457200" rtl="0" algn="l">
              <a:lnSpc>
                <a:spcPct val="115000"/>
              </a:lnSpc>
              <a:spcBef>
                <a:spcPts val="0"/>
              </a:spcBef>
              <a:spcAft>
                <a:spcPts val="0"/>
              </a:spcAft>
              <a:buClr>
                <a:schemeClr val="dk1"/>
              </a:buClr>
              <a:buSzPts val="1400"/>
              <a:buChar char="●"/>
            </a:pPr>
            <a:r>
              <a:rPr lang="en-GB" sz="1400">
                <a:solidFill>
                  <a:schemeClr val="dk1"/>
                </a:solidFill>
                <a:highlight>
                  <a:srgbClr val="D3E3FD"/>
                </a:highlight>
              </a:rPr>
              <a:t>Dropout randomly drops neurons during training. </a:t>
            </a:r>
            <a:r>
              <a:rPr lang="en-GB" sz="1400">
                <a:solidFill>
                  <a:schemeClr val="dk1"/>
                </a:solidFill>
                <a:highlight>
                  <a:srgbClr val="FFFFFF"/>
                </a:highlight>
              </a:rPr>
              <a:t>DropConnect is similar to dropout, but instead of dropping neurons, it drops connections by zeroing out random weights in the weight matrix. </a:t>
            </a:r>
            <a:endParaRPr sz="1400">
              <a:solidFill>
                <a:schemeClr val="dk1"/>
              </a:solidFill>
              <a:highlight>
                <a:srgbClr val="D3E3FD"/>
              </a:highlight>
            </a:endParaRPr>
          </a:p>
          <a:p>
            <a:pPr indent="-317500" lvl="0" marL="457200" rtl="0" algn="l">
              <a:lnSpc>
                <a:spcPct val="115000"/>
              </a:lnSpc>
              <a:spcBef>
                <a:spcPts val="0"/>
              </a:spcBef>
              <a:spcAft>
                <a:spcPts val="0"/>
              </a:spcAft>
              <a:buClr>
                <a:schemeClr val="dk1"/>
              </a:buClr>
              <a:buSzPts val="1400"/>
              <a:buChar char="●"/>
            </a:pPr>
            <a:r>
              <a:rPr lang="en-GB" sz="1400">
                <a:solidFill>
                  <a:schemeClr val="dk1"/>
                </a:solidFill>
                <a:highlight>
                  <a:srgbClr val="D3E3FD"/>
                </a:highlight>
              </a:rPr>
              <a:t>Early stopping halts training when validation loss plateaus</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GB" sz="1400">
                <a:solidFill>
                  <a:schemeClr val="dk1"/>
                </a:solidFill>
                <a:highlight>
                  <a:srgbClr val="D3E3FD"/>
                </a:highlight>
              </a:rPr>
              <a:t>Batch Normalization normalizes layer inputs to stabilize training</a:t>
            </a:r>
            <a:endParaRPr sz="1400">
              <a:solidFill>
                <a:schemeClr val="dk1"/>
              </a:solidFill>
              <a:highlight>
                <a:srgbClr val="D3E3FD"/>
              </a:highlight>
            </a:endParaRPr>
          </a:p>
          <a:p>
            <a:pPr indent="0" lvl="0" marL="0" rtl="0" algn="l">
              <a:lnSpc>
                <a:spcPct val="115000"/>
              </a:lnSpc>
              <a:spcBef>
                <a:spcPts val="1200"/>
              </a:spcBef>
              <a:spcAft>
                <a:spcPts val="0"/>
              </a:spcAft>
              <a:buSzPts val="1800"/>
              <a:buNone/>
            </a:pPr>
            <a:r>
              <a:t/>
            </a:r>
            <a:endParaRPr sz="1400">
              <a:solidFill>
                <a:schemeClr val="dk1"/>
              </a:solidFill>
              <a:highlight>
                <a:srgbClr val="D3E3FD"/>
              </a:highlight>
            </a:endParaRPr>
          </a:p>
          <a:p>
            <a:pPr indent="0" lvl="0" marL="0" rtl="0" algn="l">
              <a:lnSpc>
                <a:spcPct val="115000"/>
              </a:lnSpc>
              <a:spcBef>
                <a:spcPts val="1200"/>
              </a:spcBef>
              <a:spcAft>
                <a:spcPts val="0"/>
              </a:spcAft>
              <a:buSzPts val="1800"/>
              <a:buNone/>
            </a:pPr>
            <a:r>
              <a:rPr lang="en-GB" sz="1400">
                <a:solidFill>
                  <a:schemeClr val="dk1"/>
                </a:solidFill>
                <a:highlight>
                  <a:schemeClr val="accent6"/>
                </a:highlight>
              </a:rPr>
              <a:t>Underfitting (High Bias Low variance) Prevention</a:t>
            </a:r>
            <a:endParaRPr sz="1400">
              <a:solidFill>
                <a:schemeClr val="dk1"/>
              </a:solidFill>
              <a:highlight>
                <a:schemeClr val="accent6"/>
              </a:highlight>
            </a:endParaRPr>
          </a:p>
          <a:p>
            <a:pPr indent="-317500" lvl="0" marL="457200" rtl="0" algn="l">
              <a:lnSpc>
                <a:spcPct val="115000"/>
              </a:lnSpc>
              <a:spcBef>
                <a:spcPts val="1200"/>
              </a:spcBef>
              <a:spcAft>
                <a:spcPts val="0"/>
              </a:spcAft>
              <a:buClr>
                <a:schemeClr val="dk1"/>
              </a:buClr>
              <a:buSzPts val="1400"/>
              <a:buChar char="●"/>
            </a:pPr>
            <a:r>
              <a:rPr lang="en-GB" sz="1400">
                <a:solidFill>
                  <a:schemeClr val="dk1"/>
                </a:solidFill>
                <a:highlight>
                  <a:srgbClr val="FFFFFF"/>
                </a:highlight>
              </a:rPr>
              <a:t> Increase model complexity, add more layers, or use more sophisticated architectures.</a:t>
            </a:r>
            <a:endParaRPr sz="1400">
              <a:solidFill>
                <a:schemeClr val="dk1"/>
              </a:solidFill>
              <a:highlight>
                <a:srgbClr val="FFFFFF"/>
              </a:highlight>
            </a:endParaRPr>
          </a:p>
          <a:p>
            <a:pPr indent="0" lvl="0" marL="0" rtl="0" algn="l">
              <a:lnSpc>
                <a:spcPct val="115000"/>
              </a:lnSpc>
              <a:spcBef>
                <a:spcPts val="2000"/>
              </a:spcBef>
              <a:spcAft>
                <a:spcPts val="0"/>
              </a:spcAft>
              <a:buSzPts val="1800"/>
              <a:buNone/>
            </a:pPr>
            <a:r>
              <a:t/>
            </a:r>
            <a:endParaRPr sz="1400">
              <a:solidFill>
                <a:schemeClr val="dk1"/>
              </a:solidFill>
              <a:highlight>
                <a:srgbClr val="D3E3FD"/>
              </a:highlight>
            </a:endParaRPr>
          </a:p>
          <a:p>
            <a:pPr indent="0" lvl="0" marL="0" rtl="0" algn="l">
              <a:lnSpc>
                <a:spcPct val="115000"/>
              </a:lnSpc>
              <a:spcBef>
                <a:spcPts val="1200"/>
              </a:spcBef>
              <a:spcAft>
                <a:spcPts val="0"/>
              </a:spcAft>
              <a:buSzPts val="1800"/>
              <a:buNone/>
            </a:pPr>
            <a:r>
              <a:t/>
            </a:r>
            <a:endParaRPr sz="1400">
              <a:solidFill>
                <a:schemeClr val="dk1"/>
              </a:solidFill>
            </a:endParaRPr>
          </a:p>
          <a:p>
            <a:pPr indent="0" lvl="0" marL="0" rtl="0" algn="l">
              <a:lnSpc>
                <a:spcPct val="115000"/>
              </a:lnSpc>
              <a:spcBef>
                <a:spcPts val="1200"/>
              </a:spcBef>
              <a:spcAft>
                <a:spcPts val="1200"/>
              </a:spcAft>
              <a:buSzPts val="1800"/>
              <a:buNone/>
            </a:pPr>
            <a:r>
              <a:t/>
            </a:r>
            <a:endParaRPr sz="14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Use cases</a:t>
            </a:r>
            <a:endParaRPr/>
          </a:p>
        </p:txBody>
      </p:sp>
      <p:sp>
        <p:nvSpPr>
          <p:cNvPr id="128" name="Google Shape;128;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GB">
                <a:solidFill>
                  <a:schemeClr val="dk1"/>
                </a:solidFill>
              </a:rPr>
              <a:t>The activation functions can vary depending on the specific architecture.</a:t>
            </a:r>
            <a:endParaRPr>
              <a:solidFill>
                <a:schemeClr val="dk1"/>
              </a:solidFill>
            </a:endParaRPr>
          </a:p>
          <a:p>
            <a:pPr indent="0" lvl="0" marL="0" rtl="0" algn="l">
              <a:lnSpc>
                <a:spcPct val="115000"/>
              </a:lnSpc>
              <a:spcBef>
                <a:spcPts val="1200"/>
              </a:spcBef>
              <a:spcAft>
                <a:spcPts val="0"/>
              </a:spcAft>
              <a:buSzPts val="1800"/>
              <a:buNone/>
            </a:pPr>
            <a:r>
              <a:rPr lang="en-GB">
                <a:solidFill>
                  <a:schemeClr val="dk1"/>
                </a:solidFill>
              </a:rPr>
              <a:t>The loss function is highly dependent on the exact nature of the task and the output space.</a:t>
            </a:r>
            <a:endParaRPr>
              <a:solidFill>
                <a:schemeClr val="dk1"/>
              </a:solidFill>
            </a:endParaRPr>
          </a:p>
          <a:p>
            <a:pPr indent="0" lvl="0" marL="0" rtl="0" algn="l">
              <a:lnSpc>
                <a:spcPct val="115000"/>
              </a:lnSpc>
              <a:spcBef>
                <a:spcPts val="1200"/>
              </a:spcBef>
              <a:spcAft>
                <a:spcPts val="1200"/>
              </a:spcAft>
              <a:buSzPts val="1800"/>
              <a:buNone/>
            </a:pPr>
            <a:r>
              <a:rPr lang="en-GB">
                <a:solidFill>
                  <a:schemeClr val="dk1"/>
                </a:solidFill>
              </a:rPr>
              <a:t>Optimizers such as Adam and RMSprop are typically preferred for deep learning models due to their adaptive learning rates.</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id="133" name="Google Shape;133;p25"/>
          <p:cNvPicPr preferRelativeResize="0"/>
          <p:nvPr/>
        </p:nvPicPr>
        <p:blipFill>
          <a:blip r:embed="rId3">
            <a:alphaModFix/>
          </a:blip>
          <a:stretch>
            <a:fillRect/>
          </a:stretch>
        </p:blipFill>
        <p:spPr>
          <a:xfrm>
            <a:off x="80225" y="3298585"/>
            <a:ext cx="9144000" cy="782230"/>
          </a:xfrm>
          <a:prstGeom prst="rect">
            <a:avLst/>
          </a:prstGeom>
          <a:noFill/>
          <a:ln>
            <a:noFill/>
          </a:ln>
        </p:spPr>
      </p:pic>
      <p:pic>
        <p:nvPicPr>
          <p:cNvPr id="134" name="Google Shape;134;p25"/>
          <p:cNvPicPr preferRelativeResize="0"/>
          <p:nvPr/>
        </p:nvPicPr>
        <p:blipFill>
          <a:blip r:embed="rId4">
            <a:alphaModFix/>
          </a:blip>
          <a:stretch>
            <a:fillRect/>
          </a:stretch>
        </p:blipFill>
        <p:spPr>
          <a:xfrm>
            <a:off x="80225" y="4080815"/>
            <a:ext cx="8839200" cy="645871"/>
          </a:xfrm>
          <a:prstGeom prst="rect">
            <a:avLst/>
          </a:prstGeom>
          <a:noFill/>
          <a:ln>
            <a:noFill/>
          </a:ln>
        </p:spPr>
      </p:pic>
      <p:pic>
        <p:nvPicPr>
          <p:cNvPr id="135" name="Google Shape;135;p25"/>
          <p:cNvPicPr preferRelativeResize="0"/>
          <p:nvPr/>
        </p:nvPicPr>
        <p:blipFill>
          <a:blip r:embed="rId5">
            <a:alphaModFix/>
          </a:blip>
          <a:stretch>
            <a:fillRect/>
          </a:stretch>
        </p:blipFill>
        <p:spPr>
          <a:xfrm>
            <a:off x="152400" y="2607850"/>
            <a:ext cx="8839199" cy="646563"/>
          </a:xfrm>
          <a:prstGeom prst="rect">
            <a:avLst/>
          </a:prstGeom>
          <a:noFill/>
          <a:ln>
            <a:noFill/>
          </a:ln>
        </p:spPr>
      </p:pic>
      <p:pic>
        <p:nvPicPr>
          <p:cNvPr id="136" name="Google Shape;136;p25"/>
          <p:cNvPicPr preferRelativeResize="0"/>
          <p:nvPr/>
        </p:nvPicPr>
        <p:blipFill>
          <a:blip r:embed="rId6">
            <a:alphaModFix/>
          </a:blip>
          <a:stretch>
            <a:fillRect/>
          </a:stretch>
        </p:blipFill>
        <p:spPr>
          <a:xfrm>
            <a:off x="152400" y="381127"/>
            <a:ext cx="9144001" cy="190274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graphicFrame>
        <p:nvGraphicFramePr>
          <p:cNvPr id="141" name="Google Shape;141;p26"/>
          <p:cNvGraphicFramePr/>
          <p:nvPr/>
        </p:nvGraphicFramePr>
        <p:xfrm>
          <a:off x="188475" y="153400"/>
          <a:ext cx="3000000" cy="3000000"/>
        </p:xfrm>
        <a:graphic>
          <a:graphicData uri="http://schemas.openxmlformats.org/drawingml/2006/table">
            <a:tbl>
              <a:tblPr>
                <a:noFill/>
                <a:tableStyleId>{8A79D4FD-513F-43A0-81B6-46086E9CCCEE}</a:tableStyleId>
              </a:tblPr>
              <a:tblGrid>
                <a:gridCol w="2319575"/>
                <a:gridCol w="1874225"/>
                <a:gridCol w="1772150"/>
                <a:gridCol w="2857725"/>
              </a:tblGrid>
              <a:tr h="663150">
                <a:tc>
                  <a:txBody>
                    <a:bodyPr/>
                    <a:lstStyle/>
                    <a:p>
                      <a:pPr indent="0" lvl="0" marL="0" marR="0" rtl="0" algn="ctr">
                        <a:lnSpc>
                          <a:spcPct val="115000"/>
                        </a:lnSpc>
                        <a:spcBef>
                          <a:spcPts val="0"/>
                        </a:spcBef>
                        <a:spcAft>
                          <a:spcPts val="0"/>
                        </a:spcAft>
                        <a:buClr>
                          <a:srgbClr val="000000"/>
                        </a:buClr>
                        <a:buSzPts val="1400"/>
                        <a:buFont typeface="Arial"/>
                        <a:buNone/>
                      </a:pPr>
                      <a:r>
                        <a:rPr b="1" lang="en-GB" sz="1400" u="none" cap="none" strike="noStrike"/>
                        <a:t>Task</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b="1" lang="en-GB" sz="1400" u="none" cap="none" strike="noStrike"/>
                        <a:t>Activation Functions</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b="1" lang="en-GB" sz="1400" u="none" cap="none" strike="noStrike"/>
                        <a:t>Optimizers</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b="1" lang="en-GB" sz="1400" u="none" cap="none" strike="noStrike"/>
                        <a:t>Loss Functions</a:t>
                      </a:r>
                      <a:endParaRPr b="1" sz="1400" u="none" cap="none" strike="noStrike"/>
                    </a:p>
                  </a:txBody>
                  <a:tcPr marT="91425" marB="91425" marR="91425" marL="91425"/>
                </a:tc>
              </a:tr>
              <a:tr h="588625">
                <a:tc>
                  <a:txBody>
                    <a:bodyPr/>
                    <a:lstStyle/>
                    <a:p>
                      <a:pPr indent="0" lvl="0" marL="0" marR="0" rtl="0" algn="l">
                        <a:lnSpc>
                          <a:spcPct val="100000"/>
                        </a:lnSpc>
                        <a:spcBef>
                          <a:spcPts val="0"/>
                        </a:spcBef>
                        <a:spcAft>
                          <a:spcPts val="0"/>
                        </a:spcAft>
                        <a:buClr>
                          <a:srgbClr val="000000"/>
                        </a:buClr>
                        <a:buSzPts val="1400"/>
                        <a:buFont typeface="Arial"/>
                        <a:buNone/>
                      </a:pPr>
                      <a:r>
                        <a:rPr b="1" lang="en-GB" sz="1400" u="none" cap="none" strike="noStrike"/>
                        <a:t>Regression</a:t>
                      </a:r>
                      <a:endParaRPr b="1"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ReLU, Leaky ReLU, Tanh, Sigmoid</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Adam, SGD, RMSprop, Adagrad</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MSE (Mean Squared Error), MAE (Mean Absolute Error)</a:t>
                      </a:r>
                      <a:endParaRPr sz="1400" u="none" cap="none" strike="noStrike"/>
                    </a:p>
                  </a:txBody>
                  <a:tcPr marT="91425" marB="91425" marR="91425" marL="91425"/>
                </a:tc>
              </a:tr>
              <a:tr h="588625">
                <a:tc>
                  <a:txBody>
                    <a:bodyPr/>
                    <a:lstStyle/>
                    <a:p>
                      <a:pPr indent="0" lvl="0" marL="0" marR="0" rtl="0" algn="l">
                        <a:lnSpc>
                          <a:spcPct val="100000"/>
                        </a:lnSpc>
                        <a:spcBef>
                          <a:spcPts val="0"/>
                        </a:spcBef>
                        <a:spcAft>
                          <a:spcPts val="0"/>
                        </a:spcAft>
                        <a:buClr>
                          <a:srgbClr val="000000"/>
                        </a:buClr>
                        <a:buSzPts val="1400"/>
                        <a:buFont typeface="Arial"/>
                        <a:buNone/>
                      </a:pPr>
                      <a:r>
                        <a:rPr b="1" lang="en-GB" sz="1400" u="none" cap="none" strike="noStrike"/>
                        <a:t>Classification</a:t>
                      </a:r>
                      <a:endParaRPr b="1"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Softmax, Sigmoid, ReLU, Tanh</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Adam, SGD, RMSprop, Adagrad</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Cross-Entropy Loss, Binary Cross-Entropy Loss</a:t>
                      </a:r>
                      <a:endParaRPr sz="1400" u="none" cap="none" strike="noStrike"/>
                    </a:p>
                  </a:txBody>
                  <a:tcPr marT="91425" marB="91425" marR="91425" marL="91425"/>
                </a:tc>
              </a:tr>
              <a:tr h="588625">
                <a:tc>
                  <a:txBody>
                    <a:bodyPr/>
                    <a:lstStyle/>
                    <a:p>
                      <a:pPr indent="0" lvl="0" marL="0" marR="0" rtl="0" algn="l">
                        <a:lnSpc>
                          <a:spcPct val="100000"/>
                        </a:lnSpc>
                        <a:spcBef>
                          <a:spcPts val="0"/>
                        </a:spcBef>
                        <a:spcAft>
                          <a:spcPts val="0"/>
                        </a:spcAft>
                        <a:buClr>
                          <a:srgbClr val="000000"/>
                        </a:buClr>
                        <a:buSzPts val="1400"/>
                        <a:buFont typeface="Arial"/>
                        <a:buNone/>
                      </a:pPr>
                      <a:r>
                        <a:rPr b="1" lang="en-GB" sz="1400" u="none" cap="none" strike="noStrike"/>
                        <a:t>Object Detection</a:t>
                      </a:r>
                      <a:endParaRPr b="1"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ReLU, Sigmoid, Tanh</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Adam, SGD, RMSprop</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YOLO Loss, Focal Loss, Hinge Loss</a:t>
                      </a:r>
                      <a:endParaRPr sz="1400" u="none" cap="none" strike="noStrike"/>
                    </a:p>
                  </a:txBody>
                  <a:tcPr marT="91425" marB="91425" marR="91425" marL="91425"/>
                </a:tc>
              </a:tr>
              <a:tr h="588625">
                <a:tc>
                  <a:txBody>
                    <a:bodyPr/>
                    <a:lstStyle/>
                    <a:p>
                      <a:pPr indent="0" lvl="0" marL="0" marR="0" rtl="0" algn="l">
                        <a:lnSpc>
                          <a:spcPct val="100000"/>
                        </a:lnSpc>
                        <a:spcBef>
                          <a:spcPts val="0"/>
                        </a:spcBef>
                        <a:spcAft>
                          <a:spcPts val="0"/>
                        </a:spcAft>
                        <a:buClr>
                          <a:srgbClr val="000000"/>
                        </a:buClr>
                        <a:buSzPts val="1400"/>
                        <a:buFont typeface="Arial"/>
                        <a:buNone/>
                      </a:pPr>
                      <a:r>
                        <a:rPr b="1" lang="en-GB" sz="1400" u="none" cap="none" strike="noStrike"/>
                        <a:t>Semantic Segmentation</a:t>
                      </a:r>
                      <a:endParaRPr b="1"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ReLU, Softmax, Sigmoid</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Adam, SGD, RMSprop</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Dice Loss, Jaccard Loss</a:t>
                      </a:r>
                      <a:endParaRPr sz="1400" u="none" cap="none" strike="noStrike"/>
                    </a:p>
                  </a:txBody>
                  <a:tcPr marT="91425" marB="91425" marR="91425" marL="91425"/>
                </a:tc>
              </a:tr>
              <a:tr h="588625">
                <a:tc>
                  <a:txBody>
                    <a:bodyPr/>
                    <a:lstStyle/>
                    <a:p>
                      <a:pPr indent="0" lvl="0" marL="0" marR="0" rtl="0" algn="l">
                        <a:lnSpc>
                          <a:spcPct val="100000"/>
                        </a:lnSpc>
                        <a:spcBef>
                          <a:spcPts val="0"/>
                        </a:spcBef>
                        <a:spcAft>
                          <a:spcPts val="0"/>
                        </a:spcAft>
                        <a:buClr>
                          <a:srgbClr val="000000"/>
                        </a:buClr>
                        <a:buSzPts val="1400"/>
                        <a:buFont typeface="Arial"/>
                        <a:buNone/>
                      </a:pPr>
                      <a:r>
                        <a:rPr b="1" lang="en-GB" sz="1400" u="none" cap="none" strike="noStrike"/>
                        <a:t>Image Segmentation</a:t>
                      </a:r>
                      <a:endParaRPr b="1"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ReLU, Softmax, Sigmoid</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Adam, SGD, RMSprop</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Dice Loss, Jaccard Loss</a:t>
                      </a:r>
                      <a:endParaRPr sz="1400" u="none" cap="none" strike="noStrike"/>
                    </a:p>
                  </a:txBody>
                  <a:tcPr marT="91425" marB="91425" marR="91425" marL="91425"/>
                </a:tc>
              </a:tr>
              <a:tr h="588625">
                <a:tc>
                  <a:txBody>
                    <a:bodyPr/>
                    <a:lstStyle/>
                    <a:p>
                      <a:pPr indent="0" lvl="0" marL="0" marR="0" rtl="0" algn="l">
                        <a:lnSpc>
                          <a:spcPct val="100000"/>
                        </a:lnSpc>
                        <a:spcBef>
                          <a:spcPts val="0"/>
                        </a:spcBef>
                        <a:spcAft>
                          <a:spcPts val="0"/>
                        </a:spcAft>
                        <a:buClr>
                          <a:srgbClr val="000000"/>
                        </a:buClr>
                        <a:buSzPts val="1400"/>
                        <a:buFont typeface="Arial"/>
                        <a:buNone/>
                      </a:pPr>
                      <a:r>
                        <a:rPr b="1" lang="en-GB" sz="1400" u="none" cap="none" strike="noStrike"/>
                        <a:t>Recognition</a:t>
                      </a:r>
                      <a:endParaRPr b="1"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ReLU, Softmax, Sigmoid</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Adam, SGD, RMSprop</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Cross-Entropy, Triplet Loss</a:t>
                      </a:r>
                      <a:endParaRPr sz="1400" u="none" cap="none" strike="noStrike"/>
                    </a:p>
                  </a:txBody>
                  <a:tcPr marT="91425" marB="91425" marR="91425" marL="91425"/>
                </a:tc>
              </a:tr>
              <a:tr h="588625">
                <a:tc>
                  <a:txBody>
                    <a:bodyPr/>
                    <a:lstStyle/>
                    <a:p>
                      <a:pPr indent="0" lvl="0" marL="0" marR="0" rtl="0" algn="l">
                        <a:lnSpc>
                          <a:spcPct val="100000"/>
                        </a:lnSpc>
                        <a:spcBef>
                          <a:spcPts val="0"/>
                        </a:spcBef>
                        <a:spcAft>
                          <a:spcPts val="0"/>
                        </a:spcAft>
                        <a:buClr>
                          <a:srgbClr val="000000"/>
                        </a:buClr>
                        <a:buSzPts val="1400"/>
                        <a:buFont typeface="Arial"/>
                        <a:buNone/>
                      </a:pPr>
                      <a:r>
                        <a:rPr b="1" lang="en-GB" sz="1400" u="none" cap="none" strike="noStrike"/>
                        <a:t>Tracking</a:t>
                      </a:r>
                      <a:endParaRPr b="1"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ReLU, Sigmoid, Tanh</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Adam, SGD, RMSprop</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Intersection over Union (IoU), Cross-Entropy Loss</a:t>
                      </a:r>
                      <a:endParaRPr sz="1400" u="none" cap="none" strike="noStrike"/>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graphicFrame>
        <p:nvGraphicFramePr>
          <p:cNvPr id="146" name="Google Shape;146;p27"/>
          <p:cNvGraphicFramePr/>
          <p:nvPr/>
        </p:nvGraphicFramePr>
        <p:xfrm>
          <a:off x="76675" y="413300"/>
          <a:ext cx="3000000" cy="3000000"/>
        </p:xfrm>
        <a:graphic>
          <a:graphicData uri="http://schemas.openxmlformats.org/drawingml/2006/table">
            <a:tbl>
              <a:tblPr>
                <a:noFill/>
                <a:tableStyleId>{8A79D4FD-513F-43A0-81B6-46086E9CCCEE}</a:tableStyleId>
              </a:tblPr>
              <a:tblGrid>
                <a:gridCol w="2383625"/>
                <a:gridCol w="1925975"/>
                <a:gridCol w="1821100"/>
                <a:gridCol w="2936625"/>
              </a:tblGrid>
              <a:tr h="705200">
                <a:tc>
                  <a:txBody>
                    <a:bodyPr/>
                    <a:lstStyle/>
                    <a:p>
                      <a:pPr indent="0" lvl="0" marL="0" marR="0" rtl="0" algn="ctr">
                        <a:lnSpc>
                          <a:spcPct val="115000"/>
                        </a:lnSpc>
                        <a:spcBef>
                          <a:spcPts val="0"/>
                        </a:spcBef>
                        <a:spcAft>
                          <a:spcPts val="0"/>
                        </a:spcAft>
                        <a:buClr>
                          <a:srgbClr val="000000"/>
                        </a:buClr>
                        <a:buSzPts val="1400"/>
                        <a:buFont typeface="Arial"/>
                        <a:buNone/>
                      </a:pPr>
                      <a:r>
                        <a:rPr b="1" lang="en-GB" sz="1400" u="none" cap="none" strike="noStrike"/>
                        <a:t>Task</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b="1" lang="en-GB" sz="1400" u="none" cap="none" strike="noStrike"/>
                        <a:t>Activation Functions</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b="1" lang="en-GB" sz="1400" u="none" cap="none" strike="noStrike"/>
                        <a:t>Optimizers</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b="1" lang="en-GB" sz="1400" u="none" cap="none" strike="noStrike"/>
                        <a:t>Loss Functions</a:t>
                      </a:r>
                      <a:endParaRPr b="1" sz="1400" u="none" cap="none" strike="noStrike"/>
                    </a:p>
                  </a:txBody>
                  <a:tcPr marT="91425" marB="91425" marR="91425" marL="91425"/>
                </a:tc>
              </a:tr>
              <a:tr h="190500">
                <a:tc>
                  <a:txBody>
                    <a:bodyPr/>
                    <a:lstStyle/>
                    <a:p>
                      <a:pPr indent="0" lvl="0" marL="0" marR="0" rtl="0" algn="l">
                        <a:lnSpc>
                          <a:spcPct val="100000"/>
                        </a:lnSpc>
                        <a:spcBef>
                          <a:spcPts val="0"/>
                        </a:spcBef>
                        <a:spcAft>
                          <a:spcPts val="0"/>
                        </a:spcAft>
                        <a:buClr>
                          <a:srgbClr val="000000"/>
                        </a:buClr>
                        <a:buSzPts val="1400"/>
                        <a:buFont typeface="Arial"/>
                        <a:buNone/>
                      </a:pPr>
                      <a:r>
                        <a:rPr b="1" lang="en-GB" sz="1400" u="none" cap="none" strike="noStrike"/>
                        <a:t>Pose Estimation</a:t>
                      </a:r>
                      <a:endParaRPr b="1"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ReLU, Sigmoid, Tanh</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Adam, SGD, RMSprop</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MSE (for coordinates), Hinge Loss</a:t>
                      </a:r>
                      <a:endParaRPr sz="1400" u="none" cap="none" strike="noStrike"/>
                    </a:p>
                  </a:txBody>
                  <a:tcPr marT="91425" marB="91425" marR="91425" marL="91425"/>
                </a:tc>
              </a:tr>
              <a:tr h="361950">
                <a:tc>
                  <a:txBody>
                    <a:bodyPr/>
                    <a:lstStyle/>
                    <a:p>
                      <a:pPr indent="0" lvl="0" marL="0" marR="0" rtl="0" algn="l">
                        <a:lnSpc>
                          <a:spcPct val="100000"/>
                        </a:lnSpc>
                        <a:spcBef>
                          <a:spcPts val="0"/>
                        </a:spcBef>
                        <a:spcAft>
                          <a:spcPts val="0"/>
                        </a:spcAft>
                        <a:buClr>
                          <a:srgbClr val="000000"/>
                        </a:buClr>
                        <a:buSzPts val="1400"/>
                        <a:buFont typeface="Arial"/>
                        <a:buNone/>
                      </a:pPr>
                      <a:r>
                        <a:rPr b="1" lang="en-GB" sz="1400" u="none" cap="none" strike="noStrike"/>
                        <a:t>RNNs (Recurrent Neural Networks)</a:t>
                      </a:r>
                      <a:endParaRPr b="1"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Tanh, Sigmoid, ReLU</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Adam, SGD, RMSprop</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Cross-Entropy, MSE</a:t>
                      </a:r>
                      <a:endParaRPr sz="1400" u="none" cap="none" strike="noStrike"/>
                    </a:p>
                  </a:txBody>
                  <a:tcPr marT="91425" marB="91425" marR="91425" marL="91425"/>
                </a:tc>
              </a:tr>
              <a:tr h="361950">
                <a:tc>
                  <a:txBody>
                    <a:bodyPr/>
                    <a:lstStyle/>
                    <a:p>
                      <a:pPr indent="0" lvl="0" marL="0" marR="0" rtl="0" algn="l">
                        <a:lnSpc>
                          <a:spcPct val="100000"/>
                        </a:lnSpc>
                        <a:spcBef>
                          <a:spcPts val="0"/>
                        </a:spcBef>
                        <a:spcAft>
                          <a:spcPts val="0"/>
                        </a:spcAft>
                        <a:buClr>
                          <a:srgbClr val="000000"/>
                        </a:buClr>
                        <a:buSzPts val="1400"/>
                        <a:buFont typeface="Arial"/>
                        <a:buNone/>
                      </a:pPr>
                      <a:r>
                        <a:rPr b="1" lang="en-GB" sz="1400" u="none" cap="none" strike="noStrike"/>
                        <a:t>Transformers</a:t>
                      </a:r>
                      <a:endParaRPr b="1"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ReLU, GELU, Softmax</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Adam, SGD, LAMB, AdamW</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Cross-Entropy, MSE</a:t>
                      </a:r>
                      <a:endParaRPr sz="1400" u="none" cap="none" strike="noStrike"/>
                    </a:p>
                  </a:txBody>
                  <a:tcPr marT="91425" marB="91425" marR="91425" marL="91425"/>
                </a:tc>
              </a:tr>
              <a:tr h="361950">
                <a:tc>
                  <a:txBody>
                    <a:bodyPr/>
                    <a:lstStyle/>
                    <a:p>
                      <a:pPr indent="0" lvl="0" marL="0" marR="0" rtl="0" algn="l">
                        <a:lnSpc>
                          <a:spcPct val="100000"/>
                        </a:lnSpc>
                        <a:spcBef>
                          <a:spcPts val="0"/>
                        </a:spcBef>
                        <a:spcAft>
                          <a:spcPts val="0"/>
                        </a:spcAft>
                        <a:buClr>
                          <a:srgbClr val="000000"/>
                        </a:buClr>
                        <a:buSzPts val="1400"/>
                        <a:buFont typeface="Arial"/>
                        <a:buNone/>
                      </a:pPr>
                      <a:r>
                        <a:rPr b="1" lang="en-GB" sz="1400" u="none" cap="none" strike="noStrike"/>
                        <a:t>GANs (Generative Adversarial Networks)</a:t>
                      </a:r>
                      <a:endParaRPr b="1"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Tanh, Sigmoid</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Adam, RMSprop, SGD</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Binary Cross-Entropy, Wasserstein Loss</a:t>
                      </a:r>
                      <a:endParaRPr sz="1400" u="none" cap="none" strike="noStrike"/>
                    </a:p>
                  </a:txBody>
                  <a:tcPr marT="91425" marB="91425" marR="91425" marL="91425"/>
                </a:tc>
              </a:tr>
              <a:tr h="361950">
                <a:tc>
                  <a:txBody>
                    <a:bodyPr/>
                    <a:lstStyle/>
                    <a:p>
                      <a:pPr indent="0" lvl="0" marL="0" marR="0" rtl="0" algn="l">
                        <a:lnSpc>
                          <a:spcPct val="100000"/>
                        </a:lnSpc>
                        <a:spcBef>
                          <a:spcPts val="0"/>
                        </a:spcBef>
                        <a:spcAft>
                          <a:spcPts val="0"/>
                        </a:spcAft>
                        <a:buClr>
                          <a:srgbClr val="000000"/>
                        </a:buClr>
                        <a:buSzPts val="1400"/>
                        <a:buFont typeface="Arial"/>
                        <a:buNone/>
                      </a:pPr>
                      <a:r>
                        <a:rPr b="1" lang="en-GB" sz="1400" u="none" cap="none" strike="noStrike"/>
                        <a:t>Autoencoders</a:t>
                      </a:r>
                      <a:endParaRPr b="1"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ReLU, Sigmoid, Tanh, Softmax</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Adam, RMSprop</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MSE, Binary Cross-Entropy</a:t>
                      </a:r>
                      <a:endParaRPr sz="1400" u="none" cap="none" strike="noStrike"/>
                    </a:p>
                  </a:txBody>
                  <a:tcPr marT="91425" marB="91425" marR="91425" marL="91425"/>
                </a:tc>
              </a:tr>
              <a:tr h="190500">
                <a:tc>
                  <a:txBody>
                    <a:bodyPr/>
                    <a:lstStyle/>
                    <a:p>
                      <a:pPr indent="0" lvl="0" marL="0" marR="0" rtl="0" algn="l">
                        <a:lnSpc>
                          <a:spcPct val="100000"/>
                        </a:lnSpc>
                        <a:spcBef>
                          <a:spcPts val="0"/>
                        </a:spcBef>
                        <a:spcAft>
                          <a:spcPts val="0"/>
                        </a:spcAft>
                        <a:buClr>
                          <a:srgbClr val="000000"/>
                        </a:buClr>
                        <a:buSzPts val="1400"/>
                        <a:buFont typeface="Arial"/>
                        <a:buNone/>
                      </a:pPr>
                      <a:r>
                        <a:rPr b="1" lang="en-GB" sz="1400" u="none" cap="none" strike="noStrike"/>
                        <a:t>Diffusion Models</a:t>
                      </a:r>
                      <a:endParaRPr b="1"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GELU, Tanh, Sigmoid</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Adam, AdamW, LAMBDA</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MSE, KL-Divergence, ELBO</a:t>
                      </a:r>
                      <a:endParaRPr sz="1400" u="none" cap="none" strike="noStrike"/>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Graph</a:t>
            </a:r>
            <a:endParaRPr/>
          </a:p>
        </p:txBody>
      </p:sp>
      <p:pic>
        <p:nvPicPr>
          <p:cNvPr id="152" name="Google Shape;152;p28"/>
          <p:cNvPicPr preferRelativeResize="0"/>
          <p:nvPr/>
        </p:nvPicPr>
        <p:blipFill rotWithShape="1">
          <a:blip r:embed="rId3">
            <a:alphaModFix/>
          </a:blip>
          <a:srcRect b="0" l="0" r="0" t="0"/>
          <a:stretch/>
        </p:blipFill>
        <p:spPr>
          <a:xfrm>
            <a:off x="2724150" y="1128726"/>
            <a:ext cx="3997100" cy="3121425"/>
          </a:xfrm>
          <a:prstGeom prst="rect">
            <a:avLst/>
          </a:prstGeom>
          <a:noFill/>
          <a:ln>
            <a:noFill/>
          </a:ln>
        </p:spPr>
      </p:pic>
      <p:sp>
        <p:nvSpPr>
          <p:cNvPr id="153" name="Google Shape;153;p28"/>
          <p:cNvSpPr/>
          <p:nvPr/>
        </p:nvSpPr>
        <p:spPr>
          <a:xfrm>
            <a:off x="2580775" y="3374850"/>
            <a:ext cx="1991100" cy="1037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