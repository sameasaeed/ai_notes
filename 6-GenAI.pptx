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ac37e46d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ac37e46d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ac37e46d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ac37e46d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6ac37e46d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6ac37e46d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ac37e46d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ac37e46d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6a9987ea1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6a9987ea1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a9987ea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a9987ea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a9987ea1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a9987ea1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a9987ea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a9987ea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a9987ea1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a9987ea1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a9987ea1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a9987ea1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ade97482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ade97482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ade9748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ade9748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ade97482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6ade97482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a9987ea1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a9987ea1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6ab6e1841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6ab6e1841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eeksforgeeks.org/regularization-in-machine-lear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30.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510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Artificial Intelligence</a:t>
            </a:r>
            <a:endParaRPr/>
          </a:p>
        </p:txBody>
      </p:sp>
      <p:sp>
        <p:nvSpPr>
          <p:cNvPr id="55" name="Google Shape;55;p13"/>
          <p:cNvSpPr txBox="1"/>
          <p:nvPr>
            <p:ph idx="1" type="subTitle"/>
          </p:nvPr>
        </p:nvSpPr>
        <p:spPr>
          <a:xfrm>
            <a:off x="-49375" y="10293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GenAI</a:t>
            </a:r>
            <a:endParaRPr/>
          </a:p>
        </p:txBody>
      </p:sp>
      <p:pic>
        <p:nvPicPr>
          <p:cNvPr id="56" name="Google Shape;56;p13"/>
          <p:cNvPicPr preferRelativeResize="0"/>
          <p:nvPr/>
        </p:nvPicPr>
        <p:blipFill>
          <a:blip r:embed="rId3">
            <a:alphaModFix/>
          </a:blip>
          <a:stretch>
            <a:fillRect/>
          </a:stretch>
        </p:blipFill>
        <p:spPr>
          <a:xfrm>
            <a:off x="495300" y="1559300"/>
            <a:ext cx="8039100" cy="1114425"/>
          </a:xfrm>
          <a:prstGeom prst="rect">
            <a:avLst/>
          </a:prstGeom>
          <a:noFill/>
          <a:ln>
            <a:noFill/>
          </a:ln>
        </p:spPr>
      </p:pic>
      <p:pic>
        <p:nvPicPr>
          <p:cNvPr id="57" name="Google Shape;57;p13"/>
          <p:cNvPicPr preferRelativeResize="0"/>
          <p:nvPr/>
        </p:nvPicPr>
        <p:blipFill>
          <a:blip r:embed="rId4">
            <a:alphaModFix/>
          </a:blip>
          <a:stretch>
            <a:fillRect/>
          </a:stretch>
        </p:blipFill>
        <p:spPr>
          <a:xfrm>
            <a:off x="639675" y="2826125"/>
            <a:ext cx="8010525" cy="2095500"/>
          </a:xfrm>
          <a:prstGeom prst="rect">
            <a:avLst/>
          </a:prstGeom>
          <a:noFill/>
          <a:ln>
            <a:noFill/>
          </a:ln>
        </p:spPr>
      </p:pic>
      <p:pic>
        <p:nvPicPr>
          <p:cNvPr id="58" name="Google Shape;58;p13"/>
          <p:cNvPicPr preferRelativeResize="0"/>
          <p:nvPr/>
        </p:nvPicPr>
        <p:blipFill>
          <a:blip r:embed="rId5">
            <a:alphaModFix/>
          </a:blip>
          <a:stretch>
            <a:fillRect/>
          </a:stretch>
        </p:blipFill>
        <p:spPr>
          <a:xfrm rot="5400000">
            <a:off x="-2685875" y="2279425"/>
            <a:ext cx="4552950" cy="409200"/>
          </a:xfrm>
          <a:prstGeom prst="rect">
            <a:avLst/>
          </a:prstGeom>
          <a:noFill/>
          <a:ln>
            <a:noFill/>
          </a:ln>
        </p:spPr>
      </p:pic>
      <p:pic>
        <p:nvPicPr>
          <p:cNvPr id="59" name="Google Shape;59;p13"/>
          <p:cNvPicPr preferRelativeResize="0"/>
          <p:nvPr/>
        </p:nvPicPr>
        <p:blipFill>
          <a:blip r:embed="rId6">
            <a:alphaModFix/>
          </a:blip>
          <a:stretch>
            <a:fillRect/>
          </a:stretch>
        </p:blipFill>
        <p:spPr>
          <a:xfrm>
            <a:off x="9308097" y="1383825"/>
            <a:ext cx="2369300" cy="2602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0" y="203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AUTO ENCODERS</a:t>
            </a:r>
            <a:endParaRPr/>
          </a:p>
        </p:txBody>
      </p:sp>
      <p:pic>
        <p:nvPicPr>
          <p:cNvPr id="65" name="Google Shape;65;p14"/>
          <p:cNvPicPr preferRelativeResize="0"/>
          <p:nvPr/>
        </p:nvPicPr>
        <p:blipFill>
          <a:blip r:embed="rId3">
            <a:alphaModFix/>
          </a:blip>
          <a:stretch>
            <a:fillRect/>
          </a:stretch>
        </p:blipFill>
        <p:spPr>
          <a:xfrm rot="5400000">
            <a:off x="-3058413" y="2300113"/>
            <a:ext cx="5046201" cy="852875"/>
          </a:xfrm>
          <a:prstGeom prst="rect">
            <a:avLst/>
          </a:prstGeom>
          <a:noFill/>
          <a:ln>
            <a:noFill/>
          </a:ln>
        </p:spPr>
      </p:pic>
      <p:pic>
        <p:nvPicPr>
          <p:cNvPr id="66" name="Google Shape;66;p14"/>
          <p:cNvPicPr preferRelativeResize="0"/>
          <p:nvPr/>
        </p:nvPicPr>
        <p:blipFill rotWithShape="1">
          <a:blip r:embed="rId4">
            <a:alphaModFix/>
          </a:blip>
          <a:srcRect b="0" l="2145" r="2087" t="0"/>
          <a:stretch/>
        </p:blipFill>
        <p:spPr>
          <a:xfrm>
            <a:off x="99025" y="776138"/>
            <a:ext cx="4255120" cy="1567750"/>
          </a:xfrm>
          <a:prstGeom prst="rect">
            <a:avLst/>
          </a:prstGeom>
          <a:noFill/>
          <a:ln>
            <a:noFill/>
          </a:ln>
        </p:spPr>
      </p:pic>
      <p:pic>
        <p:nvPicPr>
          <p:cNvPr id="67" name="Google Shape;67;p14"/>
          <p:cNvPicPr preferRelativeResize="0"/>
          <p:nvPr/>
        </p:nvPicPr>
        <p:blipFill>
          <a:blip r:embed="rId5">
            <a:alphaModFix/>
          </a:blip>
          <a:stretch>
            <a:fillRect/>
          </a:stretch>
        </p:blipFill>
        <p:spPr>
          <a:xfrm>
            <a:off x="99023" y="2451525"/>
            <a:ext cx="5066528" cy="2571750"/>
          </a:xfrm>
          <a:prstGeom prst="rect">
            <a:avLst/>
          </a:prstGeom>
          <a:noFill/>
          <a:ln>
            <a:noFill/>
          </a:ln>
        </p:spPr>
      </p:pic>
      <p:pic>
        <p:nvPicPr>
          <p:cNvPr id="68" name="Google Shape;68;p14"/>
          <p:cNvPicPr preferRelativeResize="0"/>
          <p:nvPr/>
        </p:nvPicPr>
        <p:blipFill>
          <a:blip r:embed="rId6">
            <a:alphaModFix/>
          </a:blip>
          <a:stretch>
            <a:fillRect/>
          </a:stretch>
        </p:blipFill>
        <p:spPr>
          <a:xfrm>
            <a:off x="4485050" y="1545564"/>
            <a:ext cx="4492499" cy="2787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5"/>
          <p:cNvPicPr preferRelativeResize="0"/>
          <p:nvPr/>
        </p:nvPicPr>
        <p:blipFill>
          <a:blip r:embed="rId3">
            <a:alphaModFix/>
          </a:blip>
          <a:stretch>
            <a:fillRect/>
          </a:stretch>
        </p:blipFill>
        <p:spPr>
          <a:xfrm>
            <a:off x="0" y="0"/>
            <a:ext cx="4393333" cy="4122100"/>
          </a:xfrm>
          <a:prstGeom prst="rect">
            <a:avLst/>
          </a:prstGeom>
          <a:noFill/>
          <a:ln>
            <a:noFill/>
          </a:ln>
        </p:spPr>
      </p:pic>
      <p:pic>
        <p:nvPicPr>
          <p:cNvPr id="74" name="Google Shape;74;p15"/>
          <p:cNvPicPr preferRelativeResize="0"/>
          <p:nvPr/>
        </p:nvPicPr>
        <p:blipFill>
          <a:blip r:embed="rId4">
            <a:alphaModFix/>
          </a:blip>
          <a:stretch>
            <a:fillRect/>
          </a:stretch>
        </p:blipFill>
        <p:spPr>
          <a:xfrm>
            <a:off x="4522050" y="344863"/>
            <a:ext cx="4367825" cy="3496926"/>
          </a:xfrm>
          <a:prstGeom prst="rect">
            <a:avLst/>
          </a:prstGeom>
          <a:noFill/>
          <a:ln>
            <a:noFill/>
          </a:ln>
        </p:spPr>
      </p:pic>
      <p:pic>
        <p:nvPicPr>
          <p:cNvPr id="75" name="Google Shape;75;p15"/>
          <p:cNvPicPr preferRelativeResize="0"/>
          <p:nvPr/>
        </p:nvPicPr>
        <p:blipFill>
          <a:blip r:embed="rId5">
            <a:alphaModFix/>
          </a:blip>
          <a:stretch>
            <a:fillRect/>
          </a:stretch>
        </p:blipFill>
        <p:spPr>
          <a:xfrm>
            <a:off x="841525" y="3910650"/>
            <a:ext cx="3529548" cy="1232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nvSpPr>
        <p:spPr>
          <a:xfrm>
            <a:off x="0" y="0"/>
            <a:ext cx="9144000" cy="515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rgbClr val="273239"/>
                </a:solidFill>
                <a:highlight>
                  <a:srgbClr val="FFFFFF"/>
                </a:highlight>
                <a:latin typeface="Nunito"/>
                <a:ea typeface="Nunito"/>
                <a:cs typeface="Nunito"/>
                <a:sym typeface="Nunito"/>
              </a:rPr>
              <a:t>Efficient Representations in Autoencoders</a:t>
            </a:r>
            <a:endParaRPr b="1" sz="1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0"/>
              </a:spcAft>
              <a:buNone/>
            </a:pPr>
            <a:r>
              <a:rPr lang="en-GB" sz="1350">
                <a:solidFill>
                  <a:srgbClr val="273239"/>
                </a:solidFill>
                <a:highlight>
                  <a:srgbClr val="FFFFFF"/>
                </a:highlight>
                <a:latin typeface="Nunito"/>
                <a:ea typeface="Nunito"/>
                <a:cs typeface="Nunito"/>
                <a:sym typeface="Nunito"/>
              </a:rPr>
              <a:t>Constraining an autoencoder helps it learn meaningful and compact features from the input data which leads to more efficient representations. After training only the encoder part is used to encode similar data for future tasks. Various techniques are used to achieve this are as follows:</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GB" sz="1350">
                <a:solidFill>
                  <a:srgbClr val="273239"/>
                </a:solidFill>
                <a:highlight>
                  <a:srgbClr val="FFFFFF"/>
                </a:highlight>
                <a:latin typeface="Nunito"/>
                <a:ea typeface="Nunito"/>
                <a:cs typeface="Nunito"/>
                <a:sym typeface="Nunito"/>
              </a:rPr>
              <a:t>Keep Small Hidden Layers</a:t>
            </a:r>
            <a:r>
              <a:rPr lang="en-GB" sz="1350">
                <a:solidFill>
                  <a:srgbClr val="273239"/>
                </a:solidFill>
                <a:highlight>
                  <a:srgbClr val="FFFFFF"/>
                </a:highlight>
                <a:latin typeface="Nunito"/>
                <a:ea typeface="Nunito"/>
                <a:cs typeface="Nunito"/>
                <a:sym typeface="Nunito"/>
              </a:rPr>
              <a:t>: Limiting the size of each hidden layer forces the network to focus on the most important features. Smaller layers reduce redundancy and allows efficient encoding.</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GB" sz="1350">
                <a:solidFill>
                  <a:srgbClr val="273239"/>
                </a:solidFill>
                <a:highlight>
                  <a:srgbClr val="FFFFFF"/>
                </a:highlight>
                <a:latin typeface="Nunito"/>
                <a:ea typeface="Nunito"/>
                <a:cs typeface="Nunito"/>
                <a:sym typeface="Nunito"/>
              </a:rPr>
              <a:t>Regularization</a:t>
            </a:r>
            <a:r>
              <a:rPr lang="en-GB" sz="1350">
                <a:solidFill>
                  <a:srgbClr val="273239"/>
                </a:solidFill>
                <a:highlight>
                  <a:srgbClr val="FFFFFF"/>
                </a:highlight>
                <a:latin typeface="Nunito"/>
                <a:ea typeface="Nunito"/>
                <a:cs typeface="Nunito"/>
                <a:sym typeface="Nunito"/>
              </a:rPr>
              <a:t>: Techniques like </a:t>
            </a:r>
            <a:r>
              <a:rPr lang="en-GB"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L1 or L2 regularization</a:t>
            </a:r>
            <a:r>
              <a:rPr lang="en-GB" sz="1350">
                <a:solidFill>
                  <a:srgbClr val="273239"/>
                </a:solidFill>
                <a:highlight>
                  <a:srgbClr val="FFFFFF"/>
                </a:highlight>
                <a:latin typeface="Nunito"/>
                <a:ea typeface="Nunito"/>
                <a:cs typeface="Nunito"/>
                <a:sym typeface="Nunito"/>
              </a:rPr>
              <a:t> add penalty terms to the loss function. This prevents overfitting by removing excessively large weights which helps in ensuring the model to learns general and useful representations.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GB" sz="1350">
                <a:solidFill>
                  <a:srgbClr val="273239"/>
                </a:solidFill>
                <a:highlight>
                  <a:srgbClr val="FFFFFF"/>
                </a:highlight>
                <a:latin typeface="Nunito"/>
                <a:ea typeface="Nunito"/>
                <a:cs typeface="Nunito"/>
                <a:sym typeface="Nunito"/>
              </a:rPr>
              <a:t>Denoising: </a:t>
            </a:r>
            <a:r>
              <a:rPr lang="en-GB" sz="1350">
                <a:solidFill>
                  <a:srgbClr val="273239"/>
                </a:solidFill>
                <a:highlight>
                  <a:srgbClr val="FFFFFF"/>
                </a:highlight>
                <a:latin typeface="Nunito"/>
                <a:ea typeface="Nunito"/>
                <a:cs typeface="Nunito"/>
                <a:sym typeface="Nunito"/>
              </a:rPr>
              <a:t>In denoising autoencoders</a:t>
            </a:r>
            <a:r>
              <a:rPr b="1" lang="en-GB" sz="1350">
                <a:solidFill>
                  <a:srgbClr val="273239"/>
                </a:solidFill>
                <a:highlight>
                  <a:srgbClr val="FFFFFF"/>
                </a:highlight>
                <a:latin typeface="Nunito"/>
                <a:ea typeface="Nunito"/>
                <a:cs typeface="Nunito"/>
                <a:sym typeface="Nunito"/>
              </a:rPr>
              <a:t> random noise</a:t>
            </a:r>
            <a:r>
              <a:rPr lang="en-GB" sz="1350">
                <a:solidFill>
                  <a:srgbClr val="273239"/>
                </a:solidFill>
                <a:highlight>
                  <a:srgbClr val="FFFFFF"/>
                </a:highlight>
                <a:latin typeface="Nunito"/>
                <a:ea typeface="Nunito"/>
                <a:cs typeface="Nunito"/>
                <a:sym typeface="Nunito"/>
              </a:rPr>
              <a:t> is added to the input during training. It learns to remove this noise during reconstruction which helps it focus on core, noise-free features and helps in improving robustness.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GB" sz="1350">
                <a:solidFill>
                  <a:srgbClr val="273239"/>
                </a:solidFill>
                <a:highlight>
                  <a:srgbClr val="FFFFFF"/>
                </a:highlight>
                <a:latin typeface="Nunito"/>
                <a:ea typeface="Nunito"/>
                <a:cs typeface="Nunito"/>
                <a:sym typeface="Nunito"/>
              </a:rPr>
              <a:t>Tuning the Activation Functions</a:t>
            </a:r>
            <a:r>
              <a:rPr lang="en-GB" sz="1350">
                <a:solidFill>
                  <a:srgbClr val="273239"/>
                </a:solidFill>
                <a:highlight>
                  <a:srgbClr val="FFFFFF"/>
                </a:highlight>
                <a:latin typeface="Nunito"/>
                <a:ea typeface="Nunito"/>
                <a:cs typeface="Nunito"/>
                <a:sym typeface="Nunito"/>
              </a:rPr>
              <a:t>: Adjusting activation functions can promote sparsity by activating only a few neurons at a time. This sparsity reduces model complexity and forces the network to capture only the most relevant features.</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8" y="-2"/>
            <a:ext cx="7092731" cy="3605275"/>
          </a:xfrm>
          <a:prstGeom prst="rect">
            <a:avLst/>
          </a:prstGeom>
          <a:noFill/>
          <a:ln>
            <a:noFill/>
          </a:ln>
        </p:spPr>
      </p:pic>
      <p:pic>
        <p:nvPicPr>
          <p:cNvPr id="86" name="Google Shape;86;p17"/>
          <p:cNvPicPr preferRelativeResize="0"/>
          <p:nvPr/>
        </p:nvPicPr>
        <p:blipFill>
          <a:blip r:embed="rId4">
            <a:alphaModFix/>
          </a:blip>
          <a:stretch>
            <a:fillRect/>
          </a:stretch>
        </p:blipFill>
        <p:spPr>
          <a:xfrm>
            <a:off x="3970425" y="3305675"/>
            <a:ext cx="4994100" cy="1691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GANS</a:t>
            </a:r>
            <a:endParaRPr/>
          </a:p>
        </p:txBody>
      </p:sp>
      <p:pic>
        <p:nvPicPr>
          <p:cNvPr id="92" name="Google Shape;92;p18"/>
          <p:cNvPicPr preferRelativeResize="0"/>
          <p:nvPr/>
        </p:nvPicPr>
        <p:blipFill>
          <a:blip r:embed="rId3">
            <a:alphaModFix/>
          </a:blip>
          <a:stretch>
            <a:fillRect/>
          </a:stretch>
        </p:blipFill>
        <p:spPr>
          <a:xfrm>
            <a:off x="1136150" y="1556475"/>
            <a:ext cx="6752175" cy="300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p:cNvPicPr preferRelativeResize="0"/>
          <p:nvPr/>
        </p:nvPicPr>
        <p:blipFill>
          <a:blip r:embed="rId3">
            <a:alphaModFix/>
          </a:blip>
          <a:stretch>
            <a:fillRect/>
          </a:stretch>
        </p:blipFill>
        <p:spPr>
          <a:xfrm>
            <a:off x="1372325" y="0"/>
            <a:ext cx="6848776" cy="3424400"/>
          </a:xfrm>
          <a:prstGeom prst="rect">
            <a:avLst/>
          </a:prstGeom>
          <a:noFill/>
          <a:ln>
            <a:noFill/>
          </a:ln>
        </p:spPr>
      </p:pic>
      <p:sp>
        <p:nvSpPr>
          <p:cNvPr id="98" name="Google Shape;98;p19"/>
          <p:cNvSpPr txBox="1"/>
          <p:nvPr/>
        </p:nvSpPr>
        <p:spPr>
          <a:xfrm>
            <a:off x="2121313" y="3264000"/>
            <a:ext cx="5350800" cy="187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2"/>
                </a:solidFill>
              </a:rPr>
              <a:t>Minmax loss between generator and discriminator</a:t>
            </a:r>
            <a:endParaRPr sz="1800">
              <a:solidFill>
                <a:schemeClr val="dk2"/>
              </a:solidFill>
            </a:endParaRPr>
          </a:p>
          <a:p>
            <a:pPr indent="0" lvl="0" marL="0" rtl="0" algn="l">
              <a:lnSpc>
                <a:spcPct val="115000"/>
              </a:lnSpc>
              <a:spcBef>
                <a:spcPts val="1200"/>
              </a:spcBef>
              <a:spcAft>
                <a:spcPts val="0"/>
              </a:spcAft>
              <a:buNone/>
            </a:pPr>
            <a:r>
              <a:rPr lang="en-GB" sz="1800">
                <a:solidFill>
                  <a:schemeClr val="dk2"/>
                </a:solidFill>
              </a:rPr>
              <a:t>Adversarial Learning: </a:t>
            </a:r>
            <a:r>
              <a:rPr lang="en-GB" sz="1050">
                <a:solidFill>
                  <a:schemeClr val="dk1"/>
                </a:solidFill>
                <a:highlight>
                  <a:srgbClr val="F9F9F9"/>
                </a:highlight>
                <a:latin typeface="Courier New"/>
                <a:ea typeface="Courier New"/>
                <a:cs typeface="Courier New"/>
                <a:sym typeface="Courier New"/>
              </a:rPr>
              <a:t>adversarial_loss</a:t>
            </a:r>
            <a:r>
              <a:rPr lang="en-GB" sz="1200">
                <a:solidFill>
                  <a:schemeClr val="dk1"/>
                </a:solidFill>
                <a:highlight>
                  <a:srgbClr val="F9F9F9"/>
                </a:highlight>
                <a:latin typeface="Courier New"/>
                <a:ea typeface="Courier New"/>
                <a:cs typeface="Courier New"/>
                <a:sym typeface="Courier New"/>
              </a:rPr>
              <a:t> </a:t>
            </a:r>
            <a:r>
              <a:rPr lang="en-GB" sz="1050">
                <a:solidFill>
                  <a:srgbClr val="666666"/>
                </a:solidFill>
                <a:highlight>
                  <a:srgbClr val="F9F9F9"/>
                </a:highlight>
                <a:latin typeface="Courier New"/>
                <a:ea typeface="Courier New"/>
                <a:cs typeface="Courier New"/>
                <a:sym typeface="Courier New"/>
              </a:rPr>
              <a:t>=</a:t>
            </a:r>
            <a:r>
              <a:rPr lang="en-GB" sz="1200">
                <a:solidFill>
                  <a:schemeClr val="dk1"/>
                </a:solidFill>
                <a:highlight>
                  <a:srgbClr val="F9F9F9"/>
                </a:highlight>
                <a:latin typeface="Courier New"/>
                <a:ea typeface="Courier New"/>
                <a:cs typeface="Courier New"/>
                <a:sym typeface="Courier New"/>
              </a:rPr>
              <a:t> </a:t>
            </a:r>
            <a:r>
              <a:rPr lang="en-GB" sz="1050">
                <a:solidFill>
                  <a:schemeClr val="dk1"/>
                </a:solidFill>
                <a:highlight>
                  <a:srgbClr val="F9F9F9"/>
                </a:highlight>
                <a:latin typeface="Courier New"/>
                <a:ea typeface="Courier New"/>
                <a:cs typeface="Courier New"/>
                <a:sym typeface="Courier New"/>
              </a:rPr>
              <a:t>nn</a:t>
            </a:r>
            <a:r>
              <a:rPr lang="en-GB" sz="1050">
                <a:solidFill>
                  <a:srgbClr val="666666"/>
                </a:solidFill>
                <a:highlight>
                  <a:srgbClr val="F9F9F9"/>
                </a:highlight>
                <a:latin typeface="Courier New"/>
                <a:ea typeface="Courier New"/>
                <a:cs typeface="Courier New"/>
                <a:sym typeface="Courier New"/>
              </a:rPr>
              <a:t>.</a:t>
            </a:r>
            <a:r>
              <a:rPr lang="en-GB" sz="1050">
                <a:solidFill>
                  <a:schemeClr val="dk1"/>
                </a:solidFill>
                <a:highlight>
                  <a:srgbClr val="F9F9F9"/>
                </a:highlight>
                <a:latin typeface="Courier New"/>
                <a:ea typeface="Courier New"/>
                <a:cs typeface="Courier New"/>
                <a:sym typeface="Courier New"/>
              </a:rPr>
              <a:t>BCELoss()</a:t>
            </a:r>
            <a:endParaRPr sz="1800">
              <a:solidFill>
                <a:schemeClr val="dk2"/>
              </a:solidFill>
            </a:endParaRPr>
          </a:p>
          <a:p>
            <a:pPr indent="0" lvl="0" marL="0" rtl="0" algn="l">
              <a:lnSpc>
                <a:spcPct val="115000"/>
              </a:lnSpc>
              <a:spcBef>
                <a:spcPts val="1200"/>
              </a:spcBef>
              <a:spcAft>
                <a:spcPts val="0"/>
              </a:spcAft>
              <a:buNone/>
            </a:pPr>
            <a:r>
              <a:rPr lang="en-GB" sz="1800">
                <a:solidFill>
                  <a:schemeClr val="dk2"/>
                </a:solidFill>
              </a:rPr>
              <a:t>Adam Optimizer</a:t>
            </a:r>
            <a:endParaRPr sz="1800">
              <a:solidFill>
                <a:schemeClr val="dk2"/>
              </a:solidFill>
            </a:endParaRPr>
          </a:p>
          <a:p>
            <a:pPr indent="0" lvl="0" marL="0" rtl="0" algn="l">
              <a:lnSpc>
                <a:spcPct val="115000"/>
              </a:lnSpc>
              <a:spcBef>
                <a:spcPts val="1200"/>
              </a:spcBef>
              <a:spcAft>
                <a:spcPts val="1200"/>
              </a:spcAft>
              <a:buNone/>
            </a:pPr>
            <a:r>
              <a:rPr lang="en-GB" sz="1800">
                <a:solidFill>
                  <a:schemeClr val="dk2"/>
                </a:solidFill>
              </a:rPr>
              <a:t>Leaky ReLU activation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0" y="187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a:t>
            </a:r>
            <a:endParaRPr/>
          </a:p>
        </p:txBody>
      </p:sp>
      <p:pic>
        <p:nvPicPr>
          <p:cNvPr id="104" name="Google Shape;104;p20"/>
          <p:cNvPicPr preferRelativeResize="0"/>
          <p:nvPr/>
        </p:nvPicPr>
        <p:blipFill>
          <a:blip r:embed="rId3">
            <a:alphaModFix/>
          </a:blip>
          <a:stretch>
            <a:fillRect/>
          </a:stretch>
        </p:blipFill>
        <p:spPr>
          <a:xfrm>
            <a:off x="89349" y="836074"/>
            <a:ext cx="4432527" cy="1330250"/>
          </a:xfrm>
          <a:prstGeom prst="rect">
            <a:avLst/>
          </a:prstGeom>
          <a:noFill/>
          <a:ln>
            <a:noFill/>
          </a:ln>
          <a:effectLst>
            <a:outerShdw blurRad="57150" rotWithShape="0" algn="bl" dir="5400000" dist="19050">
              <a:srgbClr val="000000">
                <a:alpha val="50000"/>
              </a:srgbClr>
            </a:outerShdw>
          </a:effectLst>
        </p:spPr>
      </p:pic>
      <p:pic>
        <p:nvPicPr>
          <p:cNvPr id="105" name="Google Shape;105;p20"/>
          <p:cNvPicPr preferRelativeResize="0"/>
          <p:nvPr/>
        </p:nvPicPr>
        <p:blipFill>
          <a:blip r:embed="rId4">
            <a:alphaModFix/>
          </a:blip>
          <a:stretch>
            <a:fillRect/>
          </a:stretch>
        </p:blipFill>
        <p:spPr>
          <a:xfrm>
            <a:off x="4540475" y="279575"/>
            <a:ext cx="4432524" cy="1158200"/>
          </a:xfrm>
          <a:prstGeom prst="rect">
            <a:avLst/>
          </a:prstGeom>
          <a:noFill/>
          <a:ln>
            <a:noFill/>
          </a:ln>
        </p:spPr>
      </p:pic>
      <p:pic>
        <p:nvPicPr>
          <p:cNvPr id="106" name="Google Shape;106;p20"/>
          <p:cNvPicPr preferRelativeResize="0"/>
          <p:nvPr/>
        </p:nvPicPr>
        <p:blipFill>
          <a:blip r:embed="rId5">
            <a:alphaModFix/>
          </a:blip>
          <a:stretch>
            <a:fillRect/>
          </a:stretch>
        </p:blipFill>
        <p:spPr>
          <a:xfrm>
            <a:off x="4540475" y="1437775"/>
            <a:ext cx="4572001" cy="474402"/>
          </a:xfrm>
          <a:prstGeom prst="rect">
            <a:avLst/>
          </a:prstGeom>
          <a:noFill/>
          <a:ln>
            <a:noFill/>
          </a:ln>
        </p:spPr>
      </p:pic>
      <p:pic>
        <p:nvPicPr>
          <p:cNvPr id="107" name="Google Shape;107;p20"/>
          <p:cNvPicPr preferRelativeResize="0"/>
          <p:nvPr/>
        </p:nvPicPr>
        <p:blipFill rotWithShape="1">
          <a:blip r:embed="rId6">
            <a:alphaModFix/>
          </a:blip>
          <a:srcRect b="0" l="1050" r="-1050" t="0"/>
          <a:stretch/>
        </p:blipFill>
        <p:spPr>
          <a:xfrm>
            <a:off x="106175" y="2166325"/>
            <a:ext cx="4432526" cy="2935749"/>
          </a:xfrm>
          <a:prstGeom prst="rect">
            <a:avLst/>
          </a:prstGeom>
          <a:noFill/>
          <a:ln>
            <a:noFill/>
          </a:ln>
          <a:effectLst>
            <a:outerShdw blurRad="57150" rotWithShape="0" algn="bl" dir="5400000" dist="19050">
              <a:srgbClr val="000000">
                <a:alpha val="50000"/>
              </a:srgbClr>
            </a:outerShdw>
          </a:effectLst>
        </p:spPr>
      </p:pic>
      <p:pic>
        <p:nvPicPr>
          <p:cNvPr id="108" name="Google Shape;108;p20"/>
          <p:cNvPicPr preferRelativeResize="0"/>
          <p:nvPr/>
        </p:nvPicPr>
        <p:blipFill>
          <a:blip r:embed="rId7">
            <a:alphaModFix/>
          </a:blip>
          <a:stretch>
            <a:fillRect/>
          </a:stretch>
        </p:blipFill>
        <p:spPr>
          <a:xfrm>
            <a:off x="4521875" y="2055350"/>
            <a:ext cx="4622125" cy="1872925"/>
          </a:xfrm>
          <a:prstGeom prst="rect">
            <a:avLst/>
          </a:prstGeom>
          <a:noFill/>
          <a:ln>
            <a:noFill/>
          </a:ln>
          <a:effectLst>
            <a:outerShdw blurRad="57150" rotWithShape="0" algn="bl" dir="5400000" dist="19050">
              <a:srgbClr val="000000">
                <a:alpha val="50000"/>
              </a:srgbClr>
            </a:outerShdw>
          </a:effectLst>
        </p:spPr>
      </p:pic>
      <p:sp>
        <p:nvSpPr>
          <p:cNvPr id="109" name="Google Shape;109;p20"/>
          <p:cNvSpPr txBox="1"/>
          <p:nvPr/>
        </p:nvSpPr>
        <p:spPr>
          <a:xfrm>
            <a:off x="4540475" y="3874725"/>
            <a:ext cx="2256300" cy="3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rPr>
              <a:t>Media Industry</a:t>
            </a:r>
            <a:endParaRPr sz="1500">
              <a:solidFill>
                <a:schemeClr val="dk2"/>
              </a:solidFill>
            </a:endParaRPr>
          </a:p>
        </p:txBody>
      </p:sp>
      <p:pic>
        <p:nvPicPr>
          <p:cNvPr id="110" name="Google Shape;110;p20"/>
          <p:cNvPicPr preferRelativeResize="0"/>
          <p:nvPr/>
        </p:nvPicPr>
        <p:blipFill rotWithShape="1">
          <a:blip r:embed="rId8">
            <a:alphaModFix/>
          </a:blip>
          <a:srcRect b="3989" l="0" r="0" t="-3990"/>
          <a:stretch/>
        </p:blipFill>
        <p:spPr>
          <a:xfrm>
            <a:off x="4521875" y="3928275"/>
            <a:ext cx="4697950" cy="1158200"/>
          </a:xfrm>
          <a:prstGeom prst="rect">
            <a:avLst/>
          </a:prstGeom>
          <a:noFill/>
          <a:ln>
            <a:noFill/>
          </a:ln>
        </p:spPr>
      </p:pic>
      <p:pic>
        <p:nvPicPr>
          <p:cNvPr id="111" name="Google Shape;111;p20"/>
          <p:cNvPicPr preferRelativeResize="0"/>
          <p:nvPr/>
        </p:nvPicPr>
        <p:blipFill>
          <a:blip r:embed="rId9">
            <a:alphaModFix/>
          </a:blip>
          <a:stretch>
            <a:fillRect/>
          </a:stretch>
        </p:blipFill>
        <p:spPr>
          <a:xfrm rot="5400000">
            <a:off x="-2996637" y="2379212"/>
            <a:ext cx="4963800" cy="579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285325" y="102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 Cases</a:t>
            </a:r>
            <a:endParaRPr/>
          </a:p>
        </p:txBody>
      </p:sp>
      <p:sp>
        <p:nvSpPr>
          <p:cNvPr id="117" name="Google Shape;117;p21"/>
          <p:cNvSpPr txBox="1"/>
          <p:nvPr>
            <p:ph idx="1" type="body"/>
          </p:nvPr>
        </p:nvSpPr>
        <p:spPr>
          <a:xfrm>
            <a:off x="73975" y="745575"/>
            <a:ext cx="8943300" cy="3416400"/>
          </a:xfrm>
          <a:prstGeom prst="rect">
            <a:avLst/>
          </a:prstGeom>
        </p:spPr>
        <p:txBody>
          <a:bodyPr anchorCtr="0" anchor="t" bIns="91425" lIns="91425" spcFirstLastPara="1" rIns="91425" wrap="square" tIns="91425">
            <a:normAutofit/>
          </a:bodyPr>
          <a:lstStyle/>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Generating new images</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Data augmentation</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Creating 2D and 3D models</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Producing training data</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Filling data gaps</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b="1" lang="en-GB" sz="950">
                <a:solidFill>
                  <a:srgbClr val="273239"/>
                </a:solidFill>
                <a:highlight>
                  <a:srgbClr val="FFFFFF"/>
                </a:highlight>
                <a:latin typeface="Nunito"/>
                <a:ea typeface="Nunito"/>
                <a:cs typeface="Nunito"/>
                <a:sym typeface="Nunito"/>
              </a:rPr>
              <a:t>Image-to-Image Translation</a:t>
            </a:r>
            <a:endParaRPr b="1" sz="950">
              <a:solidFill>
                <a:srgbClr val="273239"/>
              </a:solidFill>
              <a:highlight>
                <a:srgbClr val="FFFFFF"/>
              </a:highlight>
              <a:latin typeface="Nunito"/>
              <a:ea typeface="Nunito"/>
              <a:cs typeface="Nunito"/>
              <a:sym typeface="Nunito"/>
            </a:endParaRPr>
          </a:p>
          <a:p>
            <a:pPr indent="-288925" lvl="0" marL="457200" rtl="0" algn="l">
              <a:lnSpc>
                <a:spcPct val="105000"/>
              </a:lnSpc>
              <a:spcBef>
                <a:spcPts val="0"/>
              </a:spcBef>
              <a:spcAft>
                <a:spcPts val="0"/>
              </a:spcAft>
              <a:buClr>
                <a:srgbClr val="273239"/>
              </a:buClr>
              <a:buSzPts val="950"/>
              <a:buFont typeface="Nunito"/>
              <a:buChar char="●"/>
            </a:pPr>
            <a:r>
              <a:rPr b="1" lang="en-GB" sz="950">
                <a:solidFill>
                  <a:srgbClr val="273239"/>
                </a:solidFill>
                <a:highlight>
                  <a:srgbClr val="FFFFFF"/>
                </a:highlight>
                <a:latin typeface="Nunito"/>
                <a:ea typeface="Nunito"/>
                <a:cs typeface="Nunito"/>
                <a:sym typeface="Nunito"/>
              </a:rPr>
              <a:t>Text-to-Image Synthesis</a:t>
            </a:r>
            <a:endParaRPr b="1" sz="950">
              <a:solidFill>
                <a:srgbClr val="273239"/>
              </a:solidFill>
              <a:highlight>
                <a:srgbClr val="FFFFFF"/>
              </a:highlight>
              <a:latin typeface="Nunito"/>
              <a:ea typeface="Nunito"/>
              <a:cs typeface="Nunito"/>
              <a:sym typeface="Nunito"/>
            </a:endParaRPr>
          </a:p>
          <a:p>
            <a:pPr indent="-288925" lvl="0" marL="457200" rtl="0" algn="l">
              <a:lnSpc>
                <a:spcPct val="105000"/>
              </a:lnSpc>
              <a:spcBef>
                <a:spcPts val="0"/>
              </a:spcBef>
              <a:spcAft>
                <a:spcPts val="0"/>
              </a:spcAft>
              <a:buClr>
                <a:srgbClr val="273239"/>
              </a:buClr>
              <a:buSzPts val="950"/>
              <a:buFont typeface="Nunito"/>
              <a:buChar char="●"/>
            </a:pPr>
            <a:r>
              <a:rPr b="1" lang="en-GB" sz="950">
                <a:solidFill>
                  <a:srgbClr val="273239"/>
                </a:solidFill>
                <a:highlight>
                  <a:srgbClr val="FFFFFF"/>
                </a:highlight>
                <a:latin typeface="Nunito"/>
                <a:ea typeface="Nunito"/>
                <a:cs typeface="Nunito"/>
                <a:sym typeface="Nunito"/>
              </a:rPr>
              <a:t>High-Resolution Image Enhancement</a:t>
            </a:r>
            <a:endParaRPr b="1" sz="950">
              <a:solidFill>
                <a:srgbClr val="273239"/>
              </a:solidFill>
              <a:highlight>
                <a:srgbClr val="FFFFFF"/>
              </a:highlight>
              <a:latin typeface="Nunito"/>
              <a:ea typeface="Nunito"/>
              <a:cs typeface="Nunito"/>
              <a:sym typeface="Nunito"/>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video enhancement</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text-to-speech synthesis</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style transfer, and </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deep-fake generation</a:t>
            </a:r>
            <a:endParaRPr sz="1100">
              <a:solidFill>
                <a:srgbClr val="333A3E"/>
              </a:solidFill>
              <a:highlight>
                <a:srgbClr val="FFFFFF"/>
              </a:highlight>
            </a:endParaRPr>
          </a:p>
          <a:p>
            <a:pPr indent="-298450" lvl="0" marL="457200" rtl="0" algn="l">
              <a:lnSpc>
                <a:spcPct val="105000"/>
              </a:lnSpc>
              <a:spcBef>
                <a:spcPts val="0"/>
              </a:spcBef>
              <a:spcAft>
                <a:spcPts val="0"/>
              </a:spcAft>
              <a:buClr>
                <a:srgbClr val="333A3E"/>
              </a:buClr>
              <a:buSzPts val="1100"/>
              <a:buChar char="●"/>
            </a:pPr>
            <a:r>
              <a:rPr lang="en-GB" sz="1100">
                <a:solidFill>
                  <a:srgbClr val="333A3E"/>
                </a:solidFill>
                <a:highlight>
                  <a:srgbClr val="FFFFFF"/>
                </a:highlight>
              </a:rPr>
              <a:t>gene expression analysis</a:t>
            </a:r>
            <a:endParaRPr sz="1100">
              <a:solidFill>
                <a:srgbClr val="333A3E"/>
              </a:solidFill>
              <a:highlight>
                <a:srgbClr val="FFFFFF"/>
              </a:highlight>
            </a:endParaRPr>
          </a:p>
        </p:txBody>
      </p:sp>
      <p:pic>
        <p:nvPicPr>
          <p:cNvPr id="118" name="Google Shape;118;p21"/>
          <p:cNvPicPr preferRelativeResize="0"/>
          <p:nvPr/>
        </p:nvPicPr>
        <p:blipFill>
          <a:blip r:embed="rId3">
            <a:alphaModFix/>
          </a:blip>
          <a:stretch>
            <a:fillRect/>
          </a:stretch>
        </p:blipFill>
        <p:spPr>
          <a:xfrm>
            <a:off x="1412236" y="3302300"/>
            <a:ext cx="7787239" cy="1841200"/>
          </a:xfrm>
          <a:prstGeom prst="rect">
            <a:avLst/>
          </a:prstGeom>
          <a:noFill/>
          <a:ln>
            <a:noFill/>
          </a:ln>
        </p:spPr>
      </p:pic>
      <p:pic>
        <p:nvPicPr>
          <p:cNvPr id="119" name="Google Shape;119;p21"/>
          <p:cNvPicPr preferRelativeResize="0"/>
          <p:nvPr/>
        </p:nvPicPr>
        <p:blipFill>
          <a:blip r:embed="rId4">
            <a:alphaModFix/>
          </a:blip>
          <a:stretch>
            <a:fillRect/>
          </a:stretch>
        </p:blipFill>
        <p:spPr>
          <a:xfrm>
            <a:off x="3190425" y="1017225"/>
            <a:ext cx="5777876" cy="212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Challenges</a:t>
            </a:r>
            <a:endParaRPr/>
          </a:p>
        </p:txBody>
      </p:sp>
      <p:sp>
        <p:nvSpPr>
          <p:cNvPr id="125" name="Google Shape;12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333A3E"/>
              </a:buClr>
              <a:buSzPts val="1500"/>
              <a:buChar char="●"/>
            </a:pPr>
            <a:r>
              <a:rPr b="1" lang="en-GB" sz="1500">
                <a:solidFill>
                  <a:srgbClr val="333A3E"/>
                </a:solidFill>
                <a:highlight>
                  <a:srgbClr val="FFFFFF"/>
                </a:highlight>
              </a:rPr>
              <a:t>Model collapse</a:t>
            </a:r>
            <a:r>
              <a:rPr lang="en-GB" sz="1500">
                <a:solidFill>
                  <a:srgbClr val="333A3E"/>
                </a:solidFill>
                <a:highlight>
                  <a:srgbClr val="FFFFFF"/>
                </a:highlight>
              </a:rPr>
              <a:t>: This occurs when the generator starts producing a limited variety of outputs or even the same output repeatedly, rather than a diverse range of outputs that accurately reflects the distribution of the training data. </a:t>
            </a:r>
            <a:endParaRPr sz="1500">
              <a:solidFill>
                <a:srgbClr val="333A3E"/>
              </a:solidFill>
              <a:highlight>
                <a:srgbClr val="FFFFFF"/>
              </a:highlight>
            </a:endParaRPr>
          </a:p>
          <a:p>
            <a:pPr indent="-323850" lvl="0" marL="457200" rtl="0" algn="l">
              <a:spcBef>
                <a:spcPts val="0"/>
              </a:spcBef>
              <a:spcAft>
                <a:spcPts val="0"/>
              </a:spcAft>
              <a:buClr>
                <a:srgbClr val="333A3E"/>
              </a:buClr>
              <a:buSzPts val="1500"/>
              <a:buChar char="●"/>
            </a:pPr>
            <a:r>
              <a:rPr b="1" lang="en-GB" sz="1500">
                <a:solidFill>
                  <a:srgbClr val="333A3E"/>
                </a:solidFill>
                <a:highlight>
                  <a:srgbClr val="FFFFFF"/>
                </a:highlight>
              </a:rPr>
              <a:t>Non-convergence:</a:t>
            </a:r>
            <a:r>
              <a:rPr lang="en-GB" sz="1500">
                <a:solidFill>
                  <a:srgbClr val="333A3E"/>
                </a:solidFill>
                <a:highlight>
                  <a:srgbClr val="FFFFFF"/>
                </a:highlight>
              </a:rPr>
              <a:t> In this situation, the training process fails to reach a stable solution, with the generator and discriminator continuously oscillating or failing to improve over time. </a:t>
            </a:r>
            <a:endParaRPr sz="1500">
              <a:solidFill>
                <a:srgbClr val="333A3E"/>
              </a:solidFill>
              <a:highlight>
                <a:srgbClr val="FFFFFF"/>
              </a:highlight>
            </a:endParaRPr>
          </a:p>
          <a:p>
            <a:pPr indent="-323850" lvl="0" marL="457200" rtl="0" algn="l">
              <a:spcBef>
                <a:spcPts val="0"/>
              </a:spcBef>
              <a:spcAft>
                <a:spcPts val="0"/>
              </a:spcAft>
              <a:buClr>
                <a:srgbClr val="333A3E"/>
              </a:buClr>
              <a:buSzPts val="1500"/>
              <a:buChar char="●"/>
            </a:pPr>
            <a:r>
              <a:rPr b="1" lang="en-GB" sz="1500">
                <a:solidFill>
                  <a:srgbClr val="333A3E"/>
                </a:solidFill>
                <a:highlight>
                  <a:srgbClr val="FFFFFF"/>
                </a:highlight>
              </a:rPr>
              <a:t>Instability</a:t>
            </a:r>
            <a:r>
              <a:rPr lang="en-GB" sz="1500">
                <a:solidFill>
                  <a:srgbClr val="333A3E"/>
                </a:solidFill>
                <a:highlight>
                  <a:srgbClr val="FFFFFF"/>
                </a:highlight>
              </a:rPr>
              <a:t>: Training GANs can be highly unstable, with small changes in parameters or architecture—or the training process leading to significantly different outcomes. This instability makes it challenging to design and train GANs effectively.</a:t>
            </a:r>
            <a:endParaRPr sz="1500">
              <a:solidFill>
                <a:srgbClr val="333A3E"/>
              </a:solidFill>
              <a:highlight>
                <a:srgbClr val="FFFFFF"/>
              </a:highlight>
            </a:endParaRPr>
          </a:p>
          <a:p>
            <a:pPr indent="0" lvl="0" marL="0" rtl="0" algn="l">
              <a:spcBef>
                <a:spcPts val="1500"/>
              </a:spcBef>
              <a:spcAft>
                <a:spcPts val="1200"/>
              </a:spcAft>
              <a:buNone/>
            </a:pPr>
            <a:r>
              <a:t/>
            </a:r>
            <a:endParaRPr/>
          </a:p>
        </p:txBody>
      </p:sp>
      <p:pic>
        <p:nvPicPr>
          <p:cNvPr id="126" name="Google Shape;126;p22"/>
          <p:cNvPicPr preferRelativeResize="0"/>
          <p:nvPr/>
        </p:nvPicPr>
        <p:blipFill>
          <a:blip r:embed="rId3">
            <a:alphaModFix/>
          </a:blip>
          <a:stretch>
            <a:fillRect/>
          </a:stretch>
        </p:blipFill>
        <p:spPr>
          <a:xfrm>
            <a:off x="495913" y="3857288"/>
            <a:ext cx="6524625" cy="942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DIFFUSION MODELS</a:t>
            </a:r>
            <a:endParaRPr/>
          </a:p>
        </p:txBody>
      </p:sp>
      <p:pic>
        <p:nvPicPr>
          <p:cNvPr id="132" name="Google Shape;132;p23"/>
          <p:cNvPicPr preferRelativeResize="0"/>
          <p:nvPr/>
        </p:nvPicPr>
        <p:blipFill>
          <a:blip r:embed="rId3">
            <a:alphaModFix/>
          </a:blip>
          <a:stretch>
            <a:fillRect/>
          </a:stretch>
        </p:blipFill>
        <p:spPr>
          <a:xfrm>
            <a:off x="138700" y="572700"/>
            <a:ext cx="5214426" cy="2758200"/>
          </a:xfrm>
          <a:prstGeom prst="rect">
            <a:avLst/>
          </a:prstGeom>
          <a:noFill/>
          <a:ln>
            <a:noFill/>
          </a:ln>
        </p:spPr>
      </p:pic>
      <p:pic>
        <p:nvPicPr>
          <p:cNvPr id="133" name="Google Shape;133;p23"/>
          <p:cNvPicPr preferRelativeResize="0"/>
          <p:nvPr/>
        </p:nvPicPr>
        <p:blipFill>
          <a:blip r:embed="rId4">
            <a:alphaModFix/>
          </a:blip>
          <a:stretch>
            <a:fillRect/>
          </a:stretch>
        </p:blipFill>
        <p:spPr>
          <a:xfrm>
            <a:off x="3199646" y="3330900"/>
            <a:ext cx="5713199" cy="1825675"/>
          </a:xfrm>
          <a:prstGeom prst="rect">
            <a:avLst/>
          </a:prstGeom>
          <a:noFill/>
          <a:ln>
            <a:noFill/>
          </a:ln>
        </p:spPr>
      </p:pic>
      <p:pic>
        <p:nvPicPr>
          <p:cNvPr id="134" name="Google Shape;134;p23"/>
          <p:cNvPicPr preferRelativeResize="0"/>
          <p:nvPr/>
        </p:nvPicPr>
        <p:blipFill>
          <a:blip r:embed="rId5">
            <a:alphaModFix/>
          </a:blip>
          <a:stretch>
            <a:fillRect/>
          </a:stretch>
        </p:blipFill>
        <p:spPr>
          <a:xfrm>
            <a:off x="5505526" y="725100"/>
            <a:ext cx="3486076" cy="22584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4"/>
          <p:cNvPicPr preferRelativeResize="0"/>
          <p:nvPr/>
        </p:nvPicPr>
        <p:blipFill>
          <a:blip r:embed="rId3">
            <a:alphaModFix/>
          </a:blip>
          <a:stretch>
            <a:fillRect/>
          </a:stretch>
        </p:blipFill>
        <p:spPr>
          <a:xfrm>
            <a:off x="0" y="0"/>
            <a:ext cx="4995429" cy="3102776"/>
          </a:xfrm>
          <a:prstGeom prst="rect">
            <a:avLst/>
          </a:prstGeom>
          <a:noFill/>
          <a:ln>
            <a:noFill/>
          </a:ln>
        </p:spPr>
      </p:pic>
      <p:pic>
        <p:nvPicPr>
          <p:cNvPr id="140" name="Google Shape;140;p24"/>
          <p:cNvPicPr preferRelativeResize="0"/>
          <p:nvPr/>
        </p:nvPicPr>
        <p:blipFill>
          <a:blip r:embed="rId4">
            <a:alphaModFix/>
          </a:blip>
          <a:stretch>
            <a:fillRect/>
          </a:stretch>
        </p:blipFill>
        <p:spPr>
          <a:xfrm>
            <a:off x="4394525" y="2040725"/>
            <a:ext cx="4749476" cy="3102775"/>
          </a:xfrm>
          <a:prstGeom prst="rect">
            <a:avLst/>
          </a:prstGeom>
          <a:noFill/>
          <a:ln>
            <a:noFill/>
          </a:ln>
        </p:spPr>
      </p:pic>
      <p:pic>
        <p:nvPicPr>
          <p:cNvPr id="141" name="Google Shape;141;p24"/>
          <p:cNvPicPr preferRelativeResize="0"/>
          <p:nvPr/>
        </p:nvPicPr>
        <p:blipFill>
          <a:blip r:embed="rId5">
            <a:alphaModFix/>
          </a:blip>
          <a:stretch>
            <a:fillRect/>
          </a:stretch>
        </p:blipFill>
        <p:spPr>
          <a:xfrm>
            <a:off x="171425" y="3262950"/>
            <a:ext cx="4114800" cy="1624650"/>
          </a:xfrm>
          <a:prstGeom prst="rect">
            <a:avLst/>
          </a:prstGeom>
          <a:noFill/>
          <a:ln>
            <a:noFill/>
          </a:ln>
        </p:spPr>
      </p:pic>
      <p:sp>
        <p:nvSpPr>
          <p:cNvPr id="142" name="Google Shape;142;p24"/>
          <p:cNvSpPr txBox="1"/>
          <p:nvPr/>
        </p:nvSpPr>
        <p:spPr>
          <a:xfrm>
            <a:off x="5089350" y="406075"/>
            <a:ext cx="3311700" cy="6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rPr>
              <a:t>Stable Diffusion (Latent diff model)</a:t>
            </a:r>
            <a:endParaRPr sz="16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5"/>
          <p:cNvPicPr preferRelativeResize="0"/>
          <p:nvPr/>
        </p:nvPicPr>
        <p:blipFill>
          <a:blip r:embed="rId3">
            <a:alphaModFix/>
          </a:blip>
          <a:stretch>
            <a:fillRect/>
          </a:stretch>
        </p:blipFill>
        <p:spPr>
          <a:xfrm>
            <a:off x="2851775" y="1182100"/>
            <a:ext cx="6247119" cy="1143000"/>
          </a:xfrm>
          <a:prstGeom prst="rect">
            <a:avLst/>
          </a:prstGeom>
          <a:noFill/>
          <a:ln>
            <a:noFill/>
          </a:ln>
        </p:spPr>
      </p:pic>
      <p:sp>
        <p:nvSpPr>
          <p:cNvPr id="148" name="Google Shape;148;p25"/>
          <p:cNvSpPr/>
          <p:nvPr/>
        </p:nvSpPr>
        <p:spPr>
          <a:xfrm>
            <a:off x="135350" y="108275"/>
            <a:ext cx="5694000" cy="29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25"/>
          <p:cNvPicPr preferRelativeResize="0"/>
          <p:nvPr/>
        </p:nvPicPr>
        <p:blipFill rotWithShape="1">
          <a:blip r:embed="rId4">
            <a:alphaModFix/>
          </a:blip>
          <a:srcRect b="0" l="0" r="0" t="6191"/>
          <a:stretch/>
        </p:blipFill>
        <p:spPr>
          <a:xfrm>
            <a:off x="204100" y="2445425"/>
            <a:ext cx="5580074" cy="2610625"/>
          </a:xfrm>
          <a:prstGeom prst="rect">
            <a:avLst/>
          </a:prstGeom>
          <a:noFill/>
          <a:ln>
            <a:noFill/>
          </a:ln>
        </p:spPr>
      </p:pic>
      <p:pic>
        <p:nvPicPr>
          <p:cNvPr id="150" name="Google Shape;150;p25"/>
          <p:cNvPicPr preferRelativeResize="0"/>
          <p:nvPr/>
        </p:nvPicPr>
        <p:blipFill>
          <a:blip r:embed="rId5">
            <a:alphaModFix/>
          </a:blip>
          <a:stretch>
            <a:fillRect/>
          </a:stretch>
        </p:blipFill>
        <p:spPr>
          <a:xfrm>
            <a:off x="204100" y="39100"/>
            <a:ext cx="7239000" cy="1143000"/>
          </a:xfrm>
          <a:prstGeom prst="rect">
            <a:avLst/>
          </a:prstGeom>
          <a:noFill/>
          <a:ln>
            <a:noFill/>
          </a:ln>
        </p:spPr>
      </p:pic>
      <p:sp>
        <p:nvSpPr>
          <p:cNvPr id="151" name="Google Shape;151;p25"/>
          <p:cNvSpPr/>
          <p:nvPr/>
        </p:nvSpPr>
        <p:spPr>
          <a:xfrm>
            <a:off x="216575" y="36100"/>
            <a:ext cx="3347700" cy="29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25"/>
          <p:cNvSpPr/>
          <p:nvPr/>
        </p:nvSpPr>
        <p:spPr>
          <a:xfrm>
            <a:off x="2860500" y="1155025"/>
            <a:ext cx="5089500" cy="29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6"/>
          <p:cNvPicPr preferRelativeResize="0"/>
          <p:nvPr/>
        </p:nvPicPr>
        <p:blipFill>
          <a:blip r:embed="rId3">
            <a:alphaModFix/>
          </a:blip>
          <a:stretch>
            <a:fillRect/>
          </a:stretch>
        </p:blipFill>
        <p:spPr>
          <a:xfrm>
            <a:off x="1014663" y="1270701"/>
            <a:ext cx="7114675" cy="3571274"/>
          </a:xfrm>
          <a:prstGeom prst="rect">
            <a:avLst/>
          </a:prstGeom>
          <a:noFill/>
          <a:ln>
            <a:noFill/>
          </a:ln>
        </p:spPr>
      </p:pic>
      <p:sp>
        <p:nvSpPr>
          <p:cNvPr id="158" name="Google Shape;158;p26"/>
          <p:cNvSpPr txBox="1"/>
          <p:nvPr/>
        </p:nvSpPr>
        <p:spPr>
          <a:xfrm>
            <a:off x="2517625" y="830325"/>
            <a:ext cx="58473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Transformer based Diffusion model</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800">
                <a:solidFill>
                  <a:srgbClr val="273239"/>
                </a:solidFill>
                <a:highlight>
                  <a:srgbClr val="FFFFFF"/>
                </a:highlight>
                <a:latin typeface="Nunito"/>
                <a:ea typeface="Nunito"/>
                <a:cs typeface="Nunito"/>
                <a:sym typeface="Nunito"/>
              </a:rPr>
              <a:t>Use cases</a:t>
            </a:r>
            <a:endParaRPr/>
          </a:p>
        </p:txBody>
      </p:sp>
      <p:sp>
        <p:nvSpPr>
          <p:cNvPr id="164" name="Google Shape;164;p27"/>
          <p:cNvSpPr txBox="1"/>
          <p:nvPr>
            <p:ph idx="1" type="body"/>
          </p:nvPr>
        </p:nvSpPr>
        <p:spPr>
          <a:xfrm>
            <a:off x="-437375" y="671575"/>
            <a:ext cx="4450800" cy="4099500"/>
          </a:xfrm>
          <a:prstGeom prst="rect">
            <a:avLst/>
          </a:prstGeom>
        </p:spPr>
        <p:txBody>
          <a:bodyPr anchorCtr="0" anchor="t" bIns="91425" lIns="91425" spcFirstLastPara="1" rIns="91425" wrap="square" tIns="91425">
            <a:normAutofit fontScale="85000" lnSpcReduction="20000"/>
          </a:bodyPr>
          <a:lstStyle/>
          <a:p>
            <a:pPr indent="-301466" lvl="0" marL="685800" rtl="0" algn="l">
              <a:lnSpc>
                <a:spcPct val="158000"/>
              </a:lnSpc>
              <a:spcBef>
                <a:spcPts val="0"/>
              </a:spcBef>
              <a:spcAft>
                <a:spcPts val="0"/>
              </a:spcAft>
              <a:buClr>
                <a:srgbClr val="273239"/>
              </a:buClr>
              <a:buSzPct val="100000"/>
              <a:buFont typeface="Nunito"/>
              <a:buChar char="●"/>
            </a:pPr>
            <a:r>
              <a:rPr b="1" lang="en-GB" sz="1350">
                <a:solidFill>
                  <a:srgbClr val="273239"/>
                </a:solidFill>
                <a:highlight>
                  <a:srgbClr val="FFFFFF"/>
                </a:highlight>
                <a:latin typeface="Nunito"/>
                <a:ea typeface="Nunito"/>
                <a:cs typeface="Nunito"/>
                <a:sym typeface="Nunito"/>
              </a:rPr>
              <a:t>Image Generation</a:t>
            </a:r>
            <a:r>
              <a:rPr lang="en-GB" sz="1350">
                <a:solidFill>
                  <a:srgbClr val="273239"/>
                </a:solidFill>
                <a:highlight>
                  <a:srgbClr val="FFFFFF"/>
                </a:highlight>
                <a:latin typeface="Nunito"/>
                <a:ea typeface="Nunito"/>
                <a:cs typeface="Nunito"/>
                <a:sym typeface="Nunito"/>
              </a:rPr>
              <a:t>: Diffusion models can generate high-quality, realistic images from random noise. They have been used to create diverse datasets for training other machine learning models.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GB" sz="1350">
                <a:solidFill>
                  <a:srgbClr val="273239"/>
                </a:solidFill>
                <a:highlight>
                  <a:srgbClr val="FFFFFF"/>
                </a:highlight>
                <a:latin typeface="Nunito"/>
                <a:ea typeface="Nunito"/>
                <a:cs typeface="Nunito"/>
                <a:sym typeface="Nunito"/>
              </a:rPr>
              <a:t>Speech Synthesis</a:t>
            </a:r>
            <a:r>
              <a:rPr lang="en-GB" sz="1350">
                <a:solidFill>
                  <a:srgbClr val="273239"/>
                </a:solidFill>
                <a:highlight>
                  <a:srgbClr val="FFFFFF"/>
                </a:highlight>
                <a:latin typeface="Nunito"/>
                <a:ea typeface="Nunito"/>
                <a:cs typeface="Nunito"/>
                <a:sym typeface="Nunito"/>
              </a:rPr>
              <a:t>: These models can generate human-like speech by modelling the distribution of audio signals.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GB" sz="1350">
                <a:solidFill>
                  <a:srgbClr val="273239"/>
                </a:solidFill>
                <a:highlight>
                  <a:srgbClr val="FFFFFF"/>
                </a:highlight>
                <a:latin typeface="Nunito"/>
                <a:ea typeface="Nunito"/>
                <a:cs typeface="Nunito"/>
                <a:sym typeface="Nunito"/>
              </a:rPr>
              <a:t>Data Augmentation</a:t>
            </a:r>
            <a:r>
              <a:rPr lang="en-GB" sz="1350">
                <a:solidFill>
                  <a:srgbClr val="273239"/>
                </a:solidFill>
                <a:highlight>
                  <a:srgbClr val="FFFFFF"/>
                </a:highlight>
                <a:latin typeface="Nunito"/>
                <a:ea typeface="Nunito"/>
                <a:cs typeface="Nunito"/>
                <a:sym typeface="Nunito"/>
              </a:rPr>
              <a:t>: Diffusion models can be used to augment existing datasets with new, synthetic samples, improving the performance of machine learning models.</a:t>
            </a:r>
            <a:endParaRPr sz="1350">
              <a:solidFill>
                <a:srgbClr val="273239"/>
              </a:solidFill>
              <a:highlight>
                <a:srgbClr val="FFFFFF"/>
              </a:highlight>
              <a:latin typeface="Nunito"/>
              <a:ea typeface="Nunito"/>
              <a:cs typeface="Nunito"/>
              <a:sym typeface="Nunito"/>
            </a:endParaRPr>
          </a:p>
          <a:p>
            <a:pPr indent="-301466" lvl="0" marL="685800" rtl="0" algn="l">
              <a:lnSpc>
                <a:spcPct val="158000"/>
              </a:lnSpc>
              <a:spcBef>
                <a:spcPts val="0"/>
              </a:spcBef>
              <a:spcAft>
                <a:spcPts val="0"/>
              </a:spcAft>
              <a:buClr>
                <a:srgbClr val="273239"/>
              </a:buClr>
              <a:buSzPct val="100000"/>
              <a:buFont typeface="Nunito"/>
              <a:buChar char="●"/>
            </a:pPr>
            <a:r>
              <a:rPr b="1" lang="en-GB" sz="1350">
                <a:solidFill>
                  <a:srgbClr val="273239"/>
                </a:solidFill>
                <a:highlight>
                  <a:srgbClr val="FFFFFF"/>
                </a:highlight>
                <a:latin typeface="Nunito"/>
                <a:ea typeface="Nunito"/>
                <a:cs typeface="Nunito"/>
                <a:sym typeface="Nunito"/>
              </a:rPr>
              <a:t>Anomaly Detection</a:t>
            </a:r>
            <a:r>
              <a:rPr lang="en-GB" sz="1350">
                <a:solidFill>
                  <a:srgbClr val="273239"/>
                </a:solidFill>
                <a:highlight>
                  <a:srgbClr val="FFFFFF"/>
                </a:highlight>
                <a:latin typeface="Nunito"/>
                <a:ea typeface="Nunito"/>
                <a:cs typeface="Nunito"/>
                <a:sym typeface="Nunito"/>
              </a:rPr>
              <a:t>: By modelling the normal data distribution, diffusion models can help identify anomalies that deviate from this distribution.</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a:p>
        </p:txBody>
      </p:sp>
      <p:sp>
        <p:nvSpPr>
          <p:cNvPr id="165" name="Google Shape;165;p27"/>
          <p:cNvSpPr txBox="1"/>
          <p:nvPr/>
        </p:nvSpPr>
        <p:spPr>
          <a:xfrm>
            <a:off x="3735950" y="0"/>
            <a:ext cx="5067900" cy="49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rgbClr val="273239"/>
                </a:solidFill>
                <a:highlight>
                  <a:srgbClr val="FFFFFF"/>
                </a:highlight>
                <a:latin typeface="Nunito"/>
                <a:ea typeface="Nunito"/>
                <a:cs typeface="Nunito"/>
                <a:sym typeface="Nunito"/>
              </a:rPr>
              <a:t>Advantages</a:t>
            </a:r>
            <a:endParaRPr b="1" sz="1800">
              <a:solidFill>
                <a:srgbClr val="273239"/>
              </a:solidFill>
              <a:highlight>
                <a:srgbClr val="FFFFFF"/>
              </a:highlight>
              <a:latin typeface="Nunito"/>
              <a:ea typeface="Nunito"/>
              <a:cs typeface="Nunito"/>
              <a:sym typeface="Nunito"/>
            </a:endParaRPr>
          </a:p>
          <a:p>
            <a:pPr indent="0" lvl="0" marL="0" rtl="0" algn="l">
              <a:lnSpc>
                <a:spcPct val="115000"/>
              </a:lnSpc>
              <a:spcBef>
                <a:spcPts val="0"/>
              </a:spcBef>
              <a:spcAft>
                <a:spcPts val="0"/>
              </a:spcAft>
              <a:buNone/>
            </a:pPr>
            <a:r>
              <a:t/>
            </a:r>
            <a:endParaRPr b="1" sz="180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GB" sz="1350">
                <a:solidFill>
                  <a:srgbClr val="273239"/>
                </a:solidFill>
                <a:highlight>
                  <a:srgbClr val="FFFFFF"/>
                </a:highlight>
                <a:latin typeface="Nunito"/>
                <a:ea typeface="Nunito"/>
                <a:cs typeface="Nunito"/>
                <a:sym typeface="Nunito"/>
              </a:rPr>
              <a:t>Flexibility:</a:t>
            </a:r>
            <a:r>
              <a:rPr lang="en-GB" sz="1350">
                <a:solidFill>
                  <a:srgbClr val="273239"/>
                </a:solidFill>
                <a:highlight>
                  <a:srgbClr val="FFFFFF"/>
                </a:highlight>
                <a:latin typeface="Nunito"/>
                <a:ea typeface="Nunito"/>
                <a:cs typeface="Nunito"/>
                <a:sym typeface="Nunito"/>
              </a:rPr>
              <a:t> They can model complex data distributions without requiring explicit likelihood estimation.</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GB" sz="1350">
                <a:solidFill>
                  <a:srgbClr val="273239"/>
                </a:solidFill>
                <a:highlight>
                  <a:srgbClr val="FFFFFF"/>
                </a:highlight>
                <a:latin typeface="Nunito"/>
                <a:ea typeface="Nunito"/>
                <a:cs typeface="Nunito"/>
                <a:sym typeface="Nunito"/>
              </a:rPr>
              <a:t>High-Quality Generation:</a:t>
            </a:r>
            <a:r>
              <a:rPr lang="en-GB" sz="1350">
                <a:solidFill>
                  <a:srgbClr val="273239"/>
                </a:solidFill>
                <a:highlight>
                  <a:srgbClr val="FFFFFF"/>
                </a:highlight>
                <a:latin typeface="Nunito"/>
                <a:ea typeface="Nunito"/>
                <a:cs typeface="Nunito"/>
                <a:sym typeface="Nunito"/>
              </a:rPr>
              <a:t> Diffusion models generate high-quality samples, often surpassing other generative models like GANs.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GB" sz="1350">
                <a:solidFill>
                  <a:srgbClr val="273239"/>
                </a:solidFill>
                <a:highlight>
                  <a:srgbClr val="FFFFFF"/>
                </a:highlight>
                <a:latin typeface="Nunito"/>
                <a:ea typeface="Nunito"/>
                <a:cs typeface="Nunito"/>
                <a:sym typeface="Nunito"/>
              </a:rPr>
              <a:t>Stable Training:</a:t>
            </a:r>
            <a:r>
              <a:rPr lang="en-GB" sz="1350">
                <a:solidFill>
                  <a:srgbClr val="273239"/>
                </a:solidFill>
                <a:highlight>
                  <a:srgbClr val="FFFFFF"/>
                </a:highlight>
                <a:latin typeface="Nunito"/>
                <a:ea typeface="Nunito"/>
                <a:cs typeface="Nunito"/>
                <a:sym typeface="Nunito"/>
              </a:rPr>
              <a:t> Unlike GANs, diffusion models avoid issues like mode collapse and unstable training dynamics.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GB" sz="1350">
                <a:solidFill>
                  <a:srgbClr val="273239"/>
                </a:solidFill>
                <a:highlight>
                  <a:srgbClr val="FFFFFF"/>
                </a:highlight>
                <a:latin typeface="Nunito"/>
                <a:ea typeface="Nunito"/>
                <a:cs typeface="Nunito"/>
                <a:sym typeface="Nunito"/>
              </a:rPr>
              <a:t>Theoretical Foundations:</a:t>
            </a:r>
            <a:r>
              <a:rPr lang="en-GB" sz="1350">
                <a:solidFill>
                  <a:srgbClr val="273239"/>
                </a:solidFill>
                <a:highlight>
                  <a:srgbClr val="FFFFFF"/>
                </a:highlight>
                <a:latin typeface="Nunito"/>
                <a:ea typeface="Nunito"/>
                <a:cs typeface="Nunito"/>
                <a:sym typeface="Nunito"/>
              </a:rPr>
              <a:t> Based on well-understood principles from stochastic processes and statistical mechanics.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AutoNum type="arabicPeriod"/>
            </a:pPr>
            <a:r>
              <a:rPr b="1" lang="en-GB" sz="1350">
                <a:solidFill>
                  <a:srgbClr val="273239"/>
                </a:solidFill>
                <a:highlight>
                  <a:srgbClr val="FFFFFF"/>
                </a:highlight>
                <a:latin typeface="Nunito"/>
                <a:ea typeface="Nunito"/>
                <a:cs typeface="Nunito"/>
                <a:sym typeface="Nunito"/>
              </a:rPr>
              <a:t>Scalability:</a:t>
            </a:r>
            <a:r>
              <a:rPr lang="en-GB" sz="1350">
                <a:solidFill>
                  <a:srgbClr val="273239"/>
                </a:solidFill>
                <a:highlight>
                  <a:srgbClr val="FFFFFF"/>
                </a:highlight>
                <a:latin typeface="Nunito"/>
                <a:ea typeface="Nunito"/>
                <a:cs typeface="Nunito"/>
                <a:sym typeface="Nunito"/>
              </a:rPr>
              <a:t> Can be effectively scaled to high-dimensional data and large datasets.</a:t>
            </a:r>
            <a:endParaRPr sz="1350">
              <a:solidFill>
                <a:srgbClr val="273239"/>
              </a:solidFill>
              <a:highlight>
                <a:srgbClr val="FFFFFF"/>
              </a:highlight>
              <a:latin typeface="Nunito"/>
              <a:ea typeface="Nunito"/>
              <a:cs typeface="Nunito"/>
              <a:sym typeface="Nunito"/>
            </a:endParaRPr>
          </a:p>
        </p:txBody>
      </p:sp>
      <p:pic>
        <p:nvPicPr>
          <p:cNvPr id="166" name="Google Shape;166;p27"/>
          <p:cNvPicPr preferRelativeResize="0"/>
          <p:nvPr/>
        </p:nvPicPr>
        <p:blipFill rotWithShape="1">
          <a:blip r:embed="rId3">
            <a:alphaModFix/>
          </a:blip>
          <a:srcRect b="0" l="0" r="0" t="23524"/>
          <a:stretch/>
        </p:blipFill>
        <p:spPr>
          <a:xfrm>
            <a:off x="0" y="4869950"/>
            <a:ext cx="7896319" cy="343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Towards Agentic AI</a:t>
            </a:r>
            <a:endParaRPr/>
          </a:p>
        </p:txBody>
      </p:sp>
      <p:sp>
        <p:nvSpPr>
          <p:cNvPr id="172" name="Google Shape;17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To cater genai llms static &amp; generic nature, agentic rag came into picture</a:t>
            </a:r>
            <a:endParaRPr/>
          </a:p>
        </p:txBody>
      </p:sp>
      <p:pic>
        <p:nvPicPr>
          <p:cNvPr id="173" name="Google Shape;173;p28"/>
          <p:cNvPicPr preferRelativeResize="0"/>
          <p:nvPr/>
        </p:nvPicPr>
        <p:blipFill>
          <a:blip r:embed="rId3">
            <a:alphaModFix/>
          </a:blip>
          <a:stretch>
            <a:fillRect/>
          </a:stretch>
        </p:blipFill>
        <p:spPr>
          <a:xfrm>
            <a:off x="423100" y="2249473"/>
            <a:ext cx="2157675" cy="2828100"/>
          </a:xfrm>
          <a:prstGeom prst="rect">
            <a:avLst/>
          </a:prstGeom>
          <a:noFill/>
          <a:ln>
            <a:noFill/>
          </a:ln>
        </p:spPr>
      </p:pic>
      <p:sp>
        <p:nvSpPr>
          <p:cNvPr id="174" name="Google Shape;174;p28"/>
          <p:cNvSpPr txBox="1"/>
          <p:nvPr/>
        </p:nvSpPr>
        <p:spPr>
          <a:xfrm>
            <a:off x="470686" y="1861475"/>
            <a:ext cx="1954200" cy="46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rPr>
              <a:t>RAG</a:t>
            </a:r>
            <a:endParaRPr b="1" sz="1800">
              <a:solidFill>
                <a:schemeClr val="dk2"/>
              </a:solidFill>
            </a:endParaRPr>
          </a:p>
        </p:txBody>
      </p:sp>
      <p:pic>
        <p:nvPicPr>
          <p:cNvPr id="175" name="Google Shape;175;p28"/>
          <p:cNvPicPr preferRelativeResize="0"/>
          <p:nvPr/>
        </p:nvPicPr>
        <p:blipFill>
          <a:blip r:embed="rId4">
            <a:alphaModFix/>
          </a:blip>
          <a:stretch>
            <a:fillRect/>
          </a:stretch>
        </p:blipFill>
        <p:spPr>
          <a:xfrm>
            <a:off x="3086100" y="2361450"/>
            <a:ext cx="2228850" cy="2716125"/>
          </a:xfrm>
          <a:prstGeom prst="rect">
            <a:avLst/>
          </a:prstGeom>
          <a:noFill/>
          <a:ln>
            <a:noFill/>
          </a:ln>
        </p:spPr>
      </p:pic>
      <p:sp>
        <p:nvSpPr>
          <p:cNvPr id="176" name="Google Shape;176;p28"/>
          <p:cNvSpPr txBox="1"/>
          <p:nvPr/>
        </p:nvSpPr>
        <p:spPr>
          <a:xfrm>
            <a:off x="2887650" y="1861475"/>
            <a:ext cx="2508600" cy="4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Tool </a:t>
            </a:r>
            <a:r>
              <a:rPr b="1" lang="en-GB" sz="1800">
                <a:solidFill>
                  <a:schemeClr val="dk2"/>
                </a:solidFill>
              </a:rPr>
              <a:t>augmented</a:t>
            </a:r>
            <a:r>
              <a:rPr b="1" lang="en-GB" sz="1800">
                <a:solidFill>
                  <a:schemeClr val="dk2"/>
                </a:solidFill>
              </a:rPr>
              <a:t> RAG</a:t>
            </a:r>
            <a:endParaRPr b="1" sz="1800">
              <a:solidFill>
                <a:schemeClr val="dk2"/>
              </a:solidFill>
            </a:endParaRPr>
          </a:p>
        </p:txBody>
      </p:sp>
      <p:sp>
        <p:nvSpPr>
          <p:cNvPr id="177" name="Google Shape;177;p28"/>
          <p:cNvSpPr txBox="1"/>
          <p:nvPr/>
        </p:nvSpPr>
        <p:spPr>
          <a:xfrm>
            <a:off x="5909400" y="1927925"/>
            <a:ext cx="3102600" cy="3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2"/>
                </a:solidFill>
              </a:rPr>
              <a:t>AI Agent </a:t>
            </a:r>
            <a:r>
              <a:rPr lang="en-GB" sz="1700">
                <a:solidFill>
                  <a:schemeClr val="dk2"/>
                </a:solidFill>
              </a:rPr>
              <a:t>(Plans for goal &amp; adapt by continuous learning through RL feedback)</a:t>
            </a:r>
            <a:endParaRPr sz="1700">
              <a:solidFill>
                <a:schemeClr val="dk2"/>
              </a:solidFill>
            </a:endParaRPr>
          </a:p>
        </p:txBody>
      </p:sp>
      <p:pic>
        <p:nvPicPr>
          <p:cNvPr id="178" name="Google Shape;178;p28"/>
          <p:cNvPicPr preferRelativeResize="0"/>
          <p:nvPr/>
        </p:nvPicPr>
        <p:blipFill>
          <a:blip r:embed="rId5">
            <a:alphaModFix/>
          </a:blip>
          <a:stretch>
            <a:fillRect/>
          </a:stretch>
        </p:blipFill>
        <p:spPr>
          <a:xfrm>
            <a:off x="6044750" y="2935975"/>
            <a:ext cx="2113875" cy="2099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