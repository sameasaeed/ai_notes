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70fe1968c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70fe1968c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70fe1968c7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70fe1968c7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70fe1968c7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70fe1968c7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70fe1968c7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70fe1968c7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628652" y="273847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628652" y="1369220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6286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3028952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1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6457952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6" name="Google Shape;36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4" name="Google Shape;44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2" name="Google Shape;52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" name="Google Shape;5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jp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0.png"/><Relationship Id="rId7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6.png"/><Relationship Id="rId10" Type="http://schemas.openxmlformats.org/officeDocument/2006/relationships/image" Target="../media/image7.png"/><Relationship Id="rId13" Type="http://schemas.openxmlformats.org/officeDocument/2006/relationships/image" Target="../media/image11.png"/><Relationship Id="rId1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8.png"/><Relationship Id="rId5" Type="http://schemas.openxmlformats.org/officeDocument/2006/relationships/image" Target="../media/image13.png"/><Relationship Id="rId6" Type="http://schemas.openxmlformats.org/officeDocument/2006/relationships/image" Target="../media/image18.png"/><Relationship Id="rId7" Type="http://schemas.openxmlformats.org/officeDocument/2006/relationships/image" Target="../media/image5.png"/><Relationship Id="rId8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0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9" Type="http://schemas.openxmlformats.org/officeDocument/2006/relationships/image" Target="../media/image29.png"/><Relationship Id="rId5" Type="http://schemas.openxmlformats.org/officeDocument/2006/relationships/image" Target="../media/image15.png"/><Relationship Id="rId6" Type="http://schemas.openxmlformats.org/officeDocument/2006/relationships/image" Target="../media/image25.png"/><Relationship Id="rId7" Type="http://schemas.openxmlformats.org/officeDocument/2006/relationships/image" Target="../media/image30.png"/><Relationship Id="rId8" Type="http://schemas.openxmlformats.org/officeDocument/2006/relationships/image" Target="../media/image2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8.png"/><Relationship Id="rId4" Type="http://schemas.openxmlformats.org/officeDocument/2006/relationships/image" Target="../media/image22.png"/><Relationship Id="rId5" Type="http://schemas.openxmlformats.org/officeDocument/2006/relationships/image" Target="../media/image24.png"/><Relationship Id="rId6" Type="http://schemas.openxmlformats.org/officeDocument/2006/relationships/image" Target="../media/image2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1.png"/><Relationship Id="rId4" Type="http://schemas.openxmlformats.org/officeDocument/2006/relationships/image" Target="../media/image40.png"/><Relationship Id="rId9" Type="http://schemas.openxmlformats.org/officeDocument/2006/relationships/image" Target="../media/image41.png"/><Relationship Id="rId5" Type="http://schemas.openxmlformats.org/officeDocument/2006/relationships/image" Target="../media/image43.png"/><Relationship Id="rId6" Type="http://schemas.openxmlformats.org/officeDocument/2006/relationships/image" Target="../media/image32.png"/><Relationship Id="rId7" Type="http://schemas.openxmlformats.org/officeDocument/2006/relationships/image" Target="../media/image37.png"/><Relationship Id="rId8" Type="http://schemas.openxmlformats.org/officeDocument/2006/relationships/image" Target="../media/image3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5.png"/><Relationship Id="rId4" Type="http://schemas.openxmlformats.org/officeDocument/2006/relationships/image" Target="../media/image38.png"/><Relationship Id="rId5" Type="http://schemas.openxmlformats.org/officeDocument/2006/relationships/image" Target="../media/image2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6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9.jpg"/><Relationship Id="rId4" Type="http://schemas.openxmlformats.org/officeDocument/2006/relationships/image" Target="../media/image52.png"/><Relationship Id="rId5" Type="http://schemas.openxmlformats.org/officeDocument/2006/relationships/image" Target="../media/image4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2.png"/><Relationship Id="rId4" Type="http://schemas.openxmlformats.org/officeDocument/2006/relationships/image" Target="../media/image51.png"/><Relationship Id="rId5" Type="http://schemas.openxmlformats.org/officeDocument/2006/relationships/image" Target="../media/image46.png"/></Relationships>
</file>

<file path=ppt/slides/_rels/slide15.xml.rels><?xml version="1.0" encoding="UTF-8" standalone="yes"?><Relationships xmlns="http://schemas.openxmlformats.org/package/2006/relationships"><Relationship Id="rId11" Type="http://schemas.openxmlformats.org/officeDocument/2006/relationships/image" Target="../media/image56.png"/><Relationship Id="rId10" Type="http://schemas.openxmlformats.org/officeDocument/2006/relationships/image" Target="../media/image54.png"/><Relationship Id="rId1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3.png"/><Relationship Id="rId4" Type="http://schemas.openxmlformats.org/officeDocument/2006/relationships/image" Target="../media/image44.png"/><Relationship Id="rId9" Type="http://schemas.openxmlformats.org/officeDocument/2006/relationships/image" Target="../media/image50.png"/><Relationship Id="rId5" Type="http://schemas.openxmlformats.org/officeDocument/2006/relationships/image" Target="../media/image49.png"/><Relationship Id="rId6" Type="http://schemas.openxmlformats.org/officeDocument/2006/relationships/image" Target="../media/image63.png"/><Relationship Id="rId7" Type="http://schemas.openxmlformats.org/officeDocument/2006/relationships/image" Target="../media/image48.png"/><Relationship Id="rId8" Type="http://schemas.openxmlformats.org/officeDocument/2006/relationships/image" Target="../media/image4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7.png"/><Relationship Id="rId4" Type="http://schemas.openxmlformats.org/officeDocument/2006/relationships/image" Target="../media/image55.png"/><Relationship Id="rId5" Type="http://schemas.openxmlformats.org/officeDocument/2006/relationships/image" Target="../media/image61.png"/><Relationship Id="rId6" Type="http://schemas.openxmlformats.org/officeDocument/2006/relationships/image" Target="../media/image6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6.png"/><Relationship Id="rId4" Type="http://schemas.openxmlformats.org/officeDocument/2006/relationships/image" Target="../media/image60.png"/><Relationship Id="rId5" Type="http://schemas.openxmlformats.org/officeDocument/2006/relationships/image" Target="../media/image64.png"/><Relationship Id="rId6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-GB"/>
              <a:t>Artificial Intelligence</a:t>
            </a:r>
            <a:endParaRPr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8108"/>
              <a:buNone/>
            </a:pPr>
            <a:r>
              <a:rPr lang="en-GB">
                <a:solidFill>
                  <a:schemeClr val="dk1"/>
                </a:solidFill>
              </a:rPr>
              <a:t>Data Preprocessing &amp; </a:t>
            </a:r>
            <a:r>
              <a:rPr lang="en-GB">
                <a:solidFill>
                  <a:schemeClr val="dk1"/>
                </a:solidFill>
              </a:rPr>
              <a:t>Feature Engineering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28918"/>
              <a:buNone/>
            </a:pPr>
            <a:r>
              <a:t/>
            </a:r>
            <a:endParaRPr sz="2348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5"/>
          <p:cNvPicPr preferRelativeResize="0"/>
          <p:nvPr/>
        </p:nvPicPr>
        <p:blipFill rotWithShape="1">
          <a:blip r:embed="rId3">
            <a:alphaModFix/>
          </a:blip>
          <a:srcRect b="10038" l="0" r="0" t="10038"/>
          <a:stretch/>
        </p:blipFill>
        <p:spPr>
          <a:xfrm>
            <a:off x="1913050" y="121813"/>
            <a:ext cx="5242749" cy="489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/>
          <p:cNvPicPr preferRelativeResize="0"/>
          <p:nvPr/>
        </p:nvPicPr>
        <p:blipFill rotWithShape="1">
          <a:blip r:embed="rId3">
            <a:alphaModFix/>
          </a:blip>
          <a:srcRect b="73402" l="0" r="0" t="0"/>
          <a:stretch/>
        </p:blipFill>
        <p:spPr>
          <a:xfrm>
            <a:off x="378000" y="2752225"/>
            <a:ext cx="4088727" cy="242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6"/>
          <p:cNvPicPr preferRelativeResize="0"/>
          <p:nvPr/>
        </p:nvPicPr>
        <p:blipFill rotWithShape="1">
          <a:blip r:embed="rId4">
            <a:alphaModFix/>
          </a:blip>
          <a:srcRect b="1601" l="0" r="0" t="0"/>
          <a:stretch/>
        </p:blipFill>
        <p:spPr>
          <a:xfrm>
            <a:off x="134350" y="529250"/>
            <a:ext cx="4840100" cy="2277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59800" y="0"/>
            <a:ext cx="3838425" cy="2752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29750" y="2806375"/>
            <a:ext cx="4368476" cy="238325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6"/>
          <p:cNvSpPr txBox="1"/>
          <p:nvPr/>
        </p:nvSpPr>
        <p:spPr>
          <a:xfrm>
            <a:off x="3591425" y="0"/>
            <a:ext cx="1383000" cy="5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>
                <a:solidFill>
                  <a:schemeClr val="dk1"/>
                </a:solidFill>
              </a:rPr>
              <a:t>1.</a:t>
            </a:r>
            <a:r>
              <a:rPr b="0" i="0" lang="en-GB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PANDAS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180475" y="0"/>
            <a:ext cx="28515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GB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Analysis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" name="Google Shape;77;p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5400000">
            <a:off x="-3629163" y="1791200"/>
            <a:ext cx="5264075" cy="1561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title"/>
          </p:nvPr>
        </p:nvSpPr>
        <p:spPr>
          <a:xfrm>
            <a:off x="0" y="28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 Pyspark</a:t>
            </a:r>
            <a:endParaRPr/>
          </a:p>
        </p:txBody>
      </p:sp>
      <p:sp>
        <p:nvSpPr>
          <p:cNvPr id="83" name="Google Shape;83;p17"/>
          <p:cNvSpPr txBox="1"/>
          <p:nvPr>
            <p:ph idx="1" type="body"/>
          </p:nvPr>
        </p:nvSpPr>
        <p:spPr>
          <a:xfrm>
            <a:off x="140325" y="104580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chemeClr val="dk1"/>
                </a:solidFill>
              </a:rPr>
              <a:t>Cols info: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1"/>
              </a:solidFill>
            </a:endParaRPr>
          </a:p>
        </p:txBody>
      </p:sp>
      <p:pic>
        <p:nvPicPr>
          <p:cNvPr id="84" name="Google Shape;84;p17"/>
          <p:cNvPicPr preferRelativeResize="0"/>
          <p:nvPr/>
        </p:nvPicPr>
        <p:blipFill rotWithShape="1">
          <a:blip r:embed="rId3">
            <a:alphaModFix/>
          </a:blip>
          <a:srcRect b="13805" l="23764" r="16282" t="10922"/>
          <a:stretch/>
        </p:blipFill>
        <p:spPr>
          <a:xfrm>
            <a:off x="203500" y="1479876"/>
            <a:ext cx="2152650" cy="80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3500" y="3187163"/>
            <a:ext cx="2373250" cy="8821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 txBox="1"/>
          <p:nvPr/>
        </p:nvSpPr>
        <p:spPr>
          <a:xfrm>
            <a:off x="140325" y="2764625"/>
            <a:ext cx="1497900" cy="36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Rows info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7" name="Google Shape;87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98273" y="974400"/>
            <a:ext cx="3491200" cy="1370075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7"/>
          <p:cNvSpPr txBox="1"/>
          <p:nvPr/>
        </p:nvSpPr>
        <p:spPr>
          <a:xfrm>
            <a:off x="2287150" y="627250"/>
            <a:ext cx="2797200" cy="48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Show selected columns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9" name="Google Shape;89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7050" y="4418600"/>
            <a:ext cx="455295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7"/>
          <p:cNvSpPr txBox="1"/>
          <p:nvPr/>
        </p:nvSpPr>
        <p:spPr>
          <a:xfrm>
            <a:off x="311700" y="4001400"/>
            <a:ext cx="3131100" cy="23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Getting dtypes of columns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91" name="Google Shape;91;p1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105513" y="1252300"/>
            <a:ext cx="3038475" cy="19812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/>
          <p:nvPr/>
        </p:nvSpPr>
        <p:spPr>
          <a:xfrm>
            <a:off x="5931600" y="879838"/>
            <a:ext cx="3212400" cy="23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Getting dataframe stats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93" name="Google Shape;93;p17"/>
          <p:cNvPicPr preferRelativeResize="0"/>
          <p:nvPr/>
        </p:nvPicPr>
        <p:blipFill rotWithShape="1">
          <a:blip r:embed="rId8">
            <a:alphaModFix/>
          </a:blip>
          <a:srcRect b="0" l="0" r="0" t="10088"/>
          <a:stretch/>
        </p:blipFill>
        <p:spPr>
          <a:xfrm>
            <a:off x="3054525" y="3470349"/>
            <a:ext cx="6038850" cy="88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084350" y="4490275"/>
            <a:ext cx="3361825" cy="5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990725" y="2344475"/>
            <a:ext cx="4114800" cy="781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7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2356138" y="89763"/>
            <a:ext cx="4867275" cy="4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7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 rot="5400000">
            <a:off x="-3261850" y="2251413"/>
            <a:ext cx="5143075" cy="64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7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 rot="5400000">
            <a:off x="-4235662" y="2053812"/>
            <a:ext cx="5249949" cy="929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175" y="90225"/>
            <a:ext cx="5824425" cy="38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529400"/>
            <a:ext cx="5647944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1005650"/>
            <a:ext cx="5460999" cy="50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8"/>
          <p:cNvPicPr preferRelativeResize="0"/>
          <p:nvPr/>
        </p:nvPicPr>
        <p:blipFill rotWithShape="1">
          <a:blip r:embed="rId6">
            <a:alphaModFix/>
          </a:blip>
          <a:srcRect b="0" l="0" r="0" t="15002"/>
          <a:stretch/>
        </p:blipFill>
        <p:spPr>
          <a:xfrm>
            <a:off x="93475" y="1539050"/>
            <a:ext cx="54610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3475" y="1887125"/>
            <a:ext cx="4162557" cy="50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6525" y="2420525"/>
            <a:ext cx="4280850" cy="250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8"/>
          <p:cNvPicPr preferRelativeResize="0"/>
          <p:nvPr/>
        </p:nvPicPr>
        <p:blipFill rotWithShape="1">
          <a:blip r:embed="rId9">
            <a:alphaModFix/>
          </a:blip>
          <a:srcRect b="0" l="0" r="0" t="8592"/>
          <a:stretch/>
        </p:blipFill>
        <p:spPr>
          <a:xfrm>
            <a:off x="118975" y="2723043"/>
            <a:ext cx="4111550" cy="296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8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8975" y="3071125"/>
            <a:ext cx="2924175" cy="28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25600" y="1443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Feature Engineering</a:t>
            </a:r>
            <a:endParaRPr/>
          </a:p>
        </p:txBody>
      </p:sp>
      <p:sp>
        <p:nvSpPr>
          <p:cNvPr id="116" name="Google Shape;116;p19"/>
          <p:cNvSpPr txBox="1"/>
          <p:nvPr/>
        </p:nvSpPr>
        <p:spPr>
          <a:xfrm>
            <a:off x="460200" y="3169325"/>
            <a:ext cx="4890900" cy="6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GB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Just the first step of transformation is done in DL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9"/>
          <p:cNvSpPr txBox="1"/>
          <p:nvPr/>
        </p:nvSpPr>
        <p:spPr>
          <a:xfrm>
            <a:off x="351950" y="1146000"/>
            <a:ext cx="4521000" cy="2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Getting features from raw data.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AutoNum type="arabicPeriod"/>
            </a:pPr>
            <a:r>
              <a:rPr b="0" i="0" lang="en-GB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Feature Transformation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AutoNum type="arabicPeriod"/>
            </a:pPr>
            <a:r>
              <a:rPr b="0" i="0" lang="en-GB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Feature Extraction (Programmatically)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AutoNum type="arabicPeriod"/>
            </a:pPr>
            <a:r>
              <a:rPr b="0" i="0" lang="en-GB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Feature Construction/Splitting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AutoNum type="arabicPeriod"/>
            </a:pPr>
            <a:r>
              <a:rPr b="0" i="0" lang="en-GB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Feature Selection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8862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/>
              <a:t>Feature Transformation (Structuring/Cleaning data)</a:t>
            </a:r>
            <a:endParaRPr/>
          </a:p>
        </p:txBody>
      </p:sp>
      <p:pic>
        <p:nvPicPr>
          <p:cNvPr id="123" name="Google Shape;123;p20"/>
          <p:cNvPicPr preferRelativeResize="0"/>
          <p:nvPr/>
        </p:nvPicPr>
        <p:blipFill rotWithShape="1">
          <a:blip r:embed="rId3">
            <a:alphaModFix/>
          </a:blip>
          <a:srcRect b="0" l="0" r="0" t="30420"/>
          <a:stretch/>
        </p:blipFill>
        <p:spPr>
          <a:xfrm>
            <a:off x="2568500" y="1579150"/>
            <a:ext cx="2863875" cy="2773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8862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lphaLcPeriod"/>
            </a:pPr>
            <a:r>
              <a:rPr lang="en-GB"/>
              <a:t>Missing values imputation</a:t>
            </a:r>
            <a:endParaRPr/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59025" y="5118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-GB">
                <a:solidFill>
                  <a:schemeClr val="dk1"/>
                </a:solidFill>
              </a:rPr>
              <a:t>Simple Imputer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GB">
                <a:solidFill>
                  <a:schemeClr val="dk1"/>
                </a:solidFill>
              </a:rPr>
              <a:t>Categorical (Most repeated)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GB">
                <a:solidFill>
                  <a:schemeClr val="dk1"/>
                </a:solidFill>
              </a:rPr>
              <a:t>Numerical (mean, mode, median)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-GB">
                <a:solidFill>
                  <a:schemeClr val="dk1"/>
                </a:solidFill>
              </a:rPr>
              <a:t>Missing Indicator</a:t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-GB">
                <a:solidFill>
                  <a:schemeClr val="dk1"/>
                </a:solidFill>
              </a:rPr>
              <a:t>Random Sample Imputation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-GB">
                <a:solidFill>
                  <a:schemeClr val="dk1"/>
                </a:solidFill>
              </a:rPr>
              <a:t>Multivariate Imputer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GB">
                <a:solidFill>
                  <a:schemeClr val="dk1"/>
                </a:solidFill>
              </a:rPr>
              <a:t>kNN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GB">
                <a:solidFill>
                  <a:schemeClr val="dk1"/>
                </a:solidFill>
              </a:rPr>
              <a:t>Chained Equations/Iterative Imputer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130" name="Google Shape;1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350" y="96700"/>
            <a:ext cx="4395525" cy="1517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09625" y="1739313"/>
            <a:ext cx="3212025" cy="166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025" y="3693023"/>
            <a:ext cx="4482275" cy="1377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72000" y="3693025"/>
            <a:ext cx="4482276" cy="131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2"/>
          <p:cNvPicPr preferRelativeResize="0"/>
          <p:nvPr/>
        </p:nvPicPr>
        <p:blipFill rotWithShape="1">
          <a:blip r:embed="rId3">
            <a:alphaModFix/>
          </a:blip>
          <a:srcRect b="0" l="14507" r="0" t="25628"/>
          <a:stretch/>
        </p:blipFill>
        <p:spPr>
          <a:xfrm>
            <a:off x="93725" y="189500"/>
            <a:ext cx="2717675" cy="36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725" y="675750"/>
            <a:ext cx="2600325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725" y="1251275"/>
            <a:ext cx="4501000" cy="59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2"/>
          <p:cNvPicPr preferRelativeResize="0"/>
          <p:nvPr/>
        </p:nvPicPr>
        <p:blipFill rotWithShape="1">
          <a:blip r:embed="rId6">
            <a:alphaModFix/>
          </a:blip>
          <a:srcRect b="0" l="0" r="0" t="17627"/>
          <a:stretch/>
        </p:blipFill>
        <p:spPr>
          <a:xfrm>
            <a:off x="93725" y="1930100"/>
            <a:ext cx="6509471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52400" y="2577800"/>
            <a:ext cx="4767263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52400" y="3225500"/>
            <a:ext cx="5884636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2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52400" y="3873200"/>
            <a:ext cx="6079875" cy="1162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b. Encoding categorical features</a:t>
            </a:r>
            <a:endParaRPr/>
          </a:p>
        </p:txBody>
      </p:sp>
      <p:sp>
        <p:nvSpPr>
          <p:cNvPr id="150" name="Google Shape;150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GB">
                <a:solidFill>
                  <a:schemeClr val="dk1"/>
                </a:solidFill>
              </a:rPr>
              <a:t>Ordinal/Label Encoding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GB">
                <a:solidFill>
                  <a:schemeClr val="dk1"/>
                </a:solidFill>
              </a:rPr>
              <a:t>One Hot Encoding</a:t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151" name="Google Shape;15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76438" y="2133600"/>
            <a:ext cx="5495925" cy="1181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875" y="3433225"/>
            <a:ext cx="3638550" cy="4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1875" y="3989900"/>
            <a:ext cx="469582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4"/>
          <p:cNvSpPr txBox="1"/>
          <p:nvPr>
            <p:ph type="title"/>
          </p:nvPr>
        </p:nvSpPr>
        <p:spPr>
          <a:xfrm>
            <a:off x="36100" y="-153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c. Outlier handling</a:t>
            </a:r>
            <a:endParaRPr/>
          </a:p>
        </p:txBody>
      </p:sp>
      <p:pic>
        <p:nvPicPr>
          <p:cNvPr id="159" name="Google Shape;159;p24"/>
          <p:cNvPicPr preferRelativeResize="0"/>
          <p:nvPr/>
        </p:nvPicPr>
        <p:blipFill rotWithShape="1">
          <a:blip r:embed="rId3">
            <a:alphaModFix/>
          </a:blip>
          <a:srcRect b="21752" l="0" r="0" t="0"/>
          <a:stretch/>
        </p:blipFill>
        <p:spPr>
          <a:xfrm>
            <a:off x="3008000" y="0"/>
            <a:ext cx="4502307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5"/>
          <p:cNvSpPr txBox="1"/>
          <p:nvPr>
            <p:ph type="title"/>
          </p:nvPr>
        </p:nvSpPr>
        <p:spPr>
          <a:xfrm>
            <a:off x="-4925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d. Transformations</a:t>
            </a:r>
            <a:endParaRPr/>
          </a:p>
        </p:txBody>
      </p:sp>
      <p:pic>
        <p:nvPicPr>
          <p:cNvPr id="165" name="Google Shape;165;p25"/>
          <p:cNvPicPr preferRelativeResize="0"/>
          <p:nvPr/>
        </p:nvPicPr>
        <p:blipFill rotWithShape="1">
          <a:blip r:embed="rId3">
            <a:alphaModFix/>
          </a:blip>
          <a:srcRect b="26308" l="0" r="0" t="0"/>
          <a:stretch/>
        </p:blipFill>
        <p:spPr>
          <a:xfrm>
            <a:off x="4268350" y="72187"/>
            <a:ext cx="4746325" cy="4999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1425" y="955525"/>
            <a:ext cx="3690675" cy="2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5"/>
          <p:cNvSpPr txBox="1"/>
          <p:nvPr/>
        </p:nvSpPr>
        <p:spPr>
          <a:xfrm>
            <a:off x="225600" y="3260325"/>
            <a:ext cx="4621200" cy="36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Quantile Binning/Discretization/Binarization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(transform continuous features into discrete ones)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8" name="Google Shape;168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2375" y="3909700"/>
            <a:ext cx="2638425" cy="34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e. Feature Scaling</a:t>
            </a:r>
            <a:endParaRPr/>
          </a:p>
        </p:txBody>
      </p:sp>
      <p:sp>
        <p:nvSpPr>
          <p:cNvPr id="174" name="Google Shape;174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-GB">
                <a:solidFill>
                  <a:schemeClr val="dk1"/>
                </a:solidFill>
              </a:rPr>
              <a:t>Standardization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-GB">
                <a:solidFill>
                  <a:schemeClr val="dk1"/>
                </a:solidFill>
              </a:rPr>
              <a:t>Normalization</a:t>
            </a:r>
            <a:endParaRPr>
              <a:solidFill>
                <a:schemeClr val="dk1"/>
              </a:solidFill>
            </a:endParaRPr>
          </a:p>
          <a:p>
            <a:pPr indent="-34290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GB">
                <a:solidFill>
                  <a:schemeClr val="dk1"/>
                </a:solidFill>
              </a:rPr>
              <a:t>Minmax scaling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175" name="Google Shape;175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2181" y="1152475"/>
            <a:ext cx="5079494" cy="341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7"/>
          <p:cNvSpPr txBox="1"/>
          <p:nvPr>
            <p:ph type="title"/>
          </p:nvPr>
        </p:nvSpPr>
        <p:spPr>
          <a:xfrm>
            <a:off x="0" y="389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2. Feature Extraction &amp; Construction/Splitting</a:t>
            </a:r>
            <a:endParaRPr/>
          </a:p>
        </p:txBody>
      </p:sp>
      <p:sp>
        <p:nvSpPr>
          <p:cNvPr id="181" name="Google Shape;181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GB">
                <a:solidFill>
                  <a:schemeClr val="dk1"/>
                </a:solidFill>
              </a:rPr>
              <a:t>PCA, LDA, NN etc.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4350" y="1989350"/>
            <a:ext cx="4511876" cy="2991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0" y="929425"/>
            <a:ext cx="4572000" cy="28145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-2633650" y="611675"/>
            <a:ext cx="2561450" cy="381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5010150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2450"/>
            <a:ext cx="3067050" cy="628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2038" y="1938825"/>
            <a:ext cx="3267075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2050" y="1128375"/>
            <a:ext cx="4972100" cy="744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2050" y="2891438"/>
            <a:ext cx="4552950" cy="60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788725" y="152400"/>
            <a:ext cx="1914525" cy="1257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2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788725" y="1478950"/>
            <a:ext cx="3124200" cy="752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8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498088" y="2348388"/>
            <a:ext cx="44958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28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2050" y="2614750"/>
            <a:ext cx="3187750" cy="2410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8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1788" y="3527088"/>
            <a:ext cx="6372225" cy="9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9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3. Feature Selection </a:t>
            </a:r>
            <a:endParaRPr/>
          </a:p>
        </p:txBody>
      </p:sp>
      <p:sp>
        <p:nvSpPr>
          <p:cNvPr id="204" name="Google Shape;204;p29"/>
          <p:cNvSpPr txBox="1"/>
          <p:nvPr>
            <p:ph idx="1" type="body"/>
          </p:nvPr>
        </p:nvSpPr>
        <p:spPr>
          <a:xfrm>
            <a:off x="0" y="572700"/>
            <a:ext cx="9473100" cy="45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AutoNum type="arabicPeriod"/>
            </a:pPr>
            <a:r>
              <a:rPr lang="en-GB" sz="16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Filter (Stats-based)</a:t>
            </a:r>
            <a:endParaRPr sz="16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" name="Google Shape;205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475" y="1033004"/>
            <a:ext cx="3369100" cy="2121283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9"/>
          <p:cNvSpPr txBox="1"/>
          <p:nvPr/>
        </p:nvSpPr>
        <p:spPr>
          <a:xfrm>
            <a:off x="496300" y="3934325"/>
            <a:ext cx="2039400" cy="48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29"/>
          <p:cNvSpPr txBox="1"/>
          <p:nvPr/>
        </p:nvSpPr>
        <p:spPr>
          <a:xfrm>
            <a:off x="-108200" y="3073400"/>
            <a:ext cx="3248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1" i="0" lang="en-GB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Variance Threshold:</a:t>
            </a:r>
            <a:r>
              <a:rPr b="0" i="0" lang="en-GB" sz="1350" u="none" cap="none" strike="noStrike">
                <a:solidFill>
                  <a:srgbClr val="383838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It removes all features whose variance doesn’t meet some threshold</a:t>
            </a:r>
            <a:endParaRPr b="1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29"/>
          <p:cNvPicPr preferRelativeResize="0"/>
          <p:nvPr/>
        </p:nvPicPr>
        <p:blipFill rotWithShape="1">
          <a:blip r:embed="rId4">
            <a:alphaModFix/>
          </a:blip>
          <a:srcRect b="0" l="6785" r="0" t="21457"/>
          <a:stretch/>
        </p:blipFill>
        <p:spPr>
          <a:xfrm>
            <a:off x="349937" y="3858463"/>
            <a:ext cx="2690377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9"/>
          <p:cNvSpPr txBox="1"/>
          <p:nvPr/>
        </p:nvSpPr>
        <p:spPr>
          <a:xfrm>
            <a:off x="4818650" y="108275"/>
            <a:ext cx="3844200" cy="4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GB" sz="15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Wrapper (Greedy Search based)</a:t>
            </a:r>
            <a:endParaRPr b="0" i="0" sz="1500" u="sng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0" name="Google Shape;210;p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66125" y="610726"/>
            <a:ext cx="2690375" cy="2204186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9"/>
          <p:cNvSpPr txBox="1"/>
          <p:nvPr/>
        </p:nvSpPr>
        <p:spPr>
          <a:xfrm>
            <a:off x="4917925" y="2959775"/>
            <a:ext cx="38442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Embedded (Model Training based)</a:t>
            </a:r>
            <a:endParaRPr b="0" i="0" sz="1400" u="sng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2" name="Google Shape;212;p2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049325" y="3817600"/>
            <a:ext cx="3581400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9"/>
          <p:cNvSpPr txBox="1"/>
          <p:nvPr/>
        </p:nvSpPr>
        <p:spPr>
          <a:xfrm>
            <a:off x="5147350" y="3416300"/>
            <a:ext cx="3696000" cy="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Lasso, RF, Gradient boosting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2" y="-3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-GB"/>
              <a:t>Feature Vectors/Tensors</a:t>
            </a:r>
            <a:endParaRPr/>
          </a:p>
        </p:txBody>
      </p:sp>
      <p:sp>
        <p:nvSpPr>
          <p:cNvPr id="219" name="Google Shape;219;p30"/>
          <p:cNvSpPr txBox="1"/>
          <p:nvPr>
            <p:ph idx="1" type="body"/>
          </p:nvPr>
        </p:nvSpPr>
        <p:spPr>
          <a:xfrm>
            <a:off x="60150" y="807825"/>
            <a:ext cx="7886700" cy="37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GB" sz="1400">
                <a:solidFill>
                  <a:schemeClr val="dk1"/>
                </a:solidFill>
              </a:rPr>
              <a:t>0D tensor: Scalar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GB" sz="1400">
                <a:solidFill>
                  <a:schemeClr val="dk1"/>
                </a:solidFill>
              </a:rPr>
              <a:t>1D tensor: Vector: Collection of scalars: Input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GB" sz="1400">
                <a:solidFill>
                  <a:schemeClr val="dk1"/>
                </a:solidFill>
              </a:rPr>
              <a:t>2D tensor: Matrix: Collection of vectors: Tabular (Input, Output)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GB" sz="1400">
                <a:solidFill>
                  <a:schemeClr val="dk1"/>
                </a:solidFill>
              </a:rPr>
              <a:t>3D tensor: Collection of matrices: NLP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GB" sz="1400">
                <a:solidFill>
                  <a:schemeClr val="dk1"/>
                </a:solidFill>
              </a:rPr>
              <a:t>4D tensor: Collection of 3D tensors: Images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GB" sz="1400">
                <a:solidFill>
                  <a:schemeClr val="dk1"/>
                </a:solidFill>
              </a:rPr>
              <a:t>5D tensor: Video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GB" sz="1400">
                <a:solidFill>
                  <a:schemeClr val="dk1"/>
                </a:solidFill>
              </a:rPr>
              <a:t>Rank: dim of tensor: no. of axis</a:t>
            </a:r>
            <a:endParaRPr sz="1400">
              <a:solidFill>
                <a:schemeClr val="dk1"/>
              </a:solidFill>
            </a:endParaRPr>
          </a:p>
        </p:txBody>
      </p:sp>
      <p:pic>
        <p:nvPicPr>
          <p:cNvPr id="220" name="Google Shape;220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48050" y="2108025"/>
            <a:ext cx="2732200" cy="150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6125" y="2911250"/>
            <a:ext cx="3335601" cy="139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19232" y="173850"/>
            <a:ext cx="3652819" cy="1979525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30"/>
          <p:cNvSpPr txBox="1"/>
          <p:nvPr/>
        </p:nvSpPr>
        <p:spPr>
          <a:xfrm>
            <a:off x="-1732500" y="1173075"/>
            <a:ext cx="1732500" cy="6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NUMPY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4" name="Google Shape;224;p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581400" y="3737663"/>
            <a:ext cx="5543550" cy="752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