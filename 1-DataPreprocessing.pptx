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d4eeaee9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d4eeaee9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d4eeaee9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d4eeaee9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8cb4006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b8cb4006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8cb40065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b8cb40065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628652" y="27384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628652" y="136922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6286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64579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1.png"/><Relationship Id="rId13" Type="http://schemas.openxmlformats.org/officeDocument/2006/relationships/image" Target="../media/image6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9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41.png"/><Relationship Id="rId9" Type="http://schemas.openxmlformats.org/officeDocument/2006/relationships/image" Target="../media/image39.png"/><Relationship Id="rId5" Type="http://schemas.openxmlformats.org/officeDocument/2006/relationships/image" Target="../media/image37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Relationship Id="rId8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Relationship Id="rId4" Type="http://schemas.openxmlformats.org/officeDocument/2006/relationships/image" Target="../media/image28.png"/><Relationship Id="rId5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jpg"/><Relationship Id="rId4" Type="http://schemas.openxmlformats.org/officeDocument/2006/relationships/image" Target="../media/image42.png"/><Relationship Id="rId5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5.png"/><Relationship Id="rId4" Type="http://schemas.openxmlformats.org/officeDocument/2006/relationships/image" Target="../media/image49.png"/><Relationship Id="rId5" Type="http://schemas.openxmlformats.org/officeDocument/2006/relationships/image" Target="../media/image43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48.png"/><Relationship Id="rId1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Relationship Id="rId7" Type="http://schemas.openxmlformats.org/officeDocument/2006/relationships/image" Target="../media/image59.png"/><Relationship Id="rId8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2.png"/><Relationship Id="rId4" Type="http://schemas.openxmlformats.org/officeDocument/2006/relationships/image" Target="../media/image56.png"/><Relationship Id="rId5" Type="http://schemas.openxmlformats.org/officeDocument/2006/relationships/image" Target="../media/image58.png"/><Relationship Id="rId6" Type="http://schemas.openxmlformats.org/officeDocument/2006/relationships/image" Target="../media/image6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5.png"/><Relationship Id="rId4" Type="http://schemas.openxmlformats.org/officeDocument/2006/relationships/image" Target="../media/image64.png"/><Relationship Id="rId5" Type="http://schemas.openxmlformats.org/officeDocument/2006/relationships/image" Target="../media/image68.png"/><Relationship Id="rId6" Type="http://schemas.openxmlformats.org/officeDocument/2006/relationships/image" Target="../media/image6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Artificial Intelligence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GB">
                <a:solidFill>
                  <a:schemeClr val="dk1"/>
                </a:solidFill>
              </a:rPr>
              <a:t>Data Preprocessing &amp; Feature Engineering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8917"/>
              <a:buNone/>
            </a:pPr>
            <a:r>
              <a:t/>
            </a:r>
            <a:endParaRPr sz="234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429000" y="20310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Analysis &amp; Preprocessing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 rotWithShape="1">
          <a:blip r:embed="rId3">
            <a:alphaModFix/>
          </a:blip>
          <a:srcRect b="10038" l="0" r="0" t="10038"/>
          <a:stretch/>
        </p:blipFill>
        <p:spPr>
          <a:xfrm>
            <a:off x="1913050" y="121813"/>
            <a:ext cx="5242749" cy="489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 b="73402" l="0" r="0" t="0"/>
          <a:stretch/>
        </p:blipFill>
        <p:spPr>
          <a:xfrm>
            <a:off x="378000" y="2752225"/>
            <a:ext cx="4088727" cy="242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4">
            <a:alphaModFix/>
          </a:blip>
          <a:srcRect b="1601" l="0" r="0" t="0"/>
          <a:stretch/>
        </p:blipFill>
        <p:spPr>
          <a:xfrm>
            <a:off x="134350" y="529250"/>
            <a:ext cx="4840100" cy="2277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9800" y="0"/>
            <a:ext cx="3838425" cy="275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9750" y="2806375"/>
            <a:ext cx="4368476" cy="23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591425" y="0"/>
            <a:ext cx="13830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1.PANDAS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180475" y="0"/>
            <a:ext cx="28515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-3629163" y="1791200"/>
            <a:ext cx="5264075" cy="15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0" y="2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2. Pyspark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140325" y="1045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700">
                <a:solidFill>
                  <a:schemeClr val="dk1"/>
                </a:solidFill>
              </a:rPr>
              <a:t>Cols info: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13804" l="23764" r="16282" t="10922"/>
          <a:stretch/>
        </p:blipFill>
        <p:spPr>
          <a:xfrm>
            <a:off x="203500" y="1479876"/>
            <a:ext cx="2152650" cy="8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500" y="3187163"/>
            <a:ext cx="2373250" cy="882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140325" y="2764625"/>
            <a:ext cx="14979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Rows info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8273" y="974400"/>
            <a:ext cx="3491200" cy="13700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2287150" y="627250"/>
            <a:ext cx="2797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selected columns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7050" y="4418600"/>
            <a:ext cx="45529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311700" y="4001400"/>
            <a:ext cx="31311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Getting dtypes of columns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5513" y="1252300"/>
            <a:ext cx="3038475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5931600" y="879838"/>
            <a:ext cx="32124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Getting dataframe stats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8">
            <a:alphaModFix/>
          </a:blip>
          <a:srcRect b="0" l="0" r="0" t="10088"/>
          <a:stretch/>
        </p:blipFill>
        <p:spPr>
          <a:xfrm>
            <a:off x="3054525" y="3470349"/>
            <a:ext cx="6038850" cy="88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84350" y="4490275"/>
            <a:ext cx="336182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90725" y="2344475"/>
            <a:ext cx="41148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56138" y="89763"/>
            <a:ext cx="48672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-3261850" y="2251413"/>
            <a:ext cx="5143075" cy="64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5400000">
            <a:off x="-4235662" y="2053812"/>
            <a:ext cx="5249949" cy="92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5" y="90225"/>
            <a:ext cx="5824425" cy="3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29400"/>
            <a:ext cx="5647944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005650"/>
            <a:ext cx="5460999" cy="50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6">
            <a:alphaModFix/>
          </a:blip>
          <a:srcRect b="0" l="0" r="0" t="15002"/>
          <a:stretch/>
        </p:blipFill>
        <p:spPr>
          <a:xfrm>
            <a:off x="93475" y="1539050"/>
            <a:ext cx="546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475" y="1887125"/>
            <a:ext cx="4162557" cy="50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525" y="2420525"/>
            <a:ext cx="4280850" cy="25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 rotWithShape="1">
          <a:blip r:embed="rId9">
            <a:alphaModFix/>
          </a:blip>
          <a:srcRect b="0" l="0" r="0" t="8591"/>
          <a:stretch/>
        </p:blipFill>
        <p:spPr>
          <a:xfrm>
            <a:off x="118975" y="2723043"/>
            <a:ext cx="4111550" cy="29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8975" y="3071125"/>
            <a:ext cx="292417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434" y="0"/>
            <a:ext cx="502713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225600" y="144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Feature Engineering</a:t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460200" y="3169325"/>
            <a:ext cx="48909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 the first step of transformation is done in DL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351950" y="1146000"/>
            <a:ext cx="4521000" cy="2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Getting features from raw data.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Transformation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Extraction (Programmatically)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Construction/Splitting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Selection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Feature Transformation (Structuring/Cleaning data)</a:t>
            </a:r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 rotWithShape="1">
          <a:blip r:embed="rId3">
            <a:alphaModFix/>
          </a:blip>
          <a:srcRect b="0" l="0" r="0" t="30420"/>
          <a:stretch/>
        </p:blipFill>
        <p:spPr>
          <a:xfrm>
            <a:off x="2568500" y="1579150"/>
            <a:ext cx="2863875" cy="277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GB"/>
              <a:t>Missing values imputation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59025" y="511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Simple Imputer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Categorical (Most repeated)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Numerical (mean, mode, median)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Missing Indicator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Random Sample Imputation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Multivariate Imputer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kNN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Chained Equations/Iterative Imputer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0" name="Google Shape;1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1350" y="96700"/>
            <a:ext cx="4395525" cy="151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9625" y="1739313"/>
            <a:ext cx="3212025" cy="166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25" y="3693023"/>
            <a:ext cx="4482275" cy="13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3693025"/>
            <a:ext cx="4482276" cy="131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3">
            <a:alphaModFix/>
          </a:blip>
          <a:srcRect b="0" l="14507" r="0" t="25628"/>
          <a:stretch/>
        </p:blipFill>
        <p:spPr>
          <a:xfrm>
            <a:off x="93725" y="189500"/>
            <a:ext cx="2717675" cy="36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5" y="675750"/>
            <a:ext cx="26003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25" y="1251275"/>
            <a:ext cx="4501000" cy="5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4"/>
          <p:cNvPicPr preferRelativeResize="0"/>
          <p:nvPr/>
        </p:nvPicPr>
        <p:blipFill rotWithShape="1">
          <a:blip r:embed="rId6">
            <a:alphaModFix/>
          </a:blip>
          <a:srcRect b="0" l="0" r="0" t="17626"/>
          <a:stretch/>
        </p:blipFill>
        <p:spPr>
          <a:xfrm>
            <a:off x="93725" y="1930100"/>
            <a:ext cx="6509471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400" y="2577800"/>
            <a:ext cx="4767263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2400" y="3225500"/>
            <a:ext cx="5884636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3873200"/>
            <a:ext cx="6079875" cy="11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b. Encoding categorical features</a:t>
            </a:r>
            <a:endParaRPr/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Ordinal/Label Encoding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One Hot Encoding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1" name="Google Shape;1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6438" y="2133600"/>
            <a:ext cx="549592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875" y="3433225"/>
            <a:ext cx="36385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1875" y="3989900"/>
            <a:ext cx="469582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6100" y="-153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c. Outlier handling</a:t>
            </a:r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21752" l="0" r="0" t="0"/>
          <a:stretch/>
        </p:blipFill>
        <p:spPr>
          <a:xfrm>
            <a:off x="3008000" y="0"/>
            <a:ext cx="450230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-4925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d. Transformations</a:t>
            </a:r>
            <a:endParaRPr/>
          </a:p>
        </p:txBody>
      </p:sp>
      <p:pic>
        <p:nvPicPr>
          <p:cNvPr id="175" name="Google Shape;175;p27"/>
          <p:cNvPicPr preferRelativeResize="0"/>
          <p:nvPr/>
        </p:nvPicPr>
        <p:blipFill rotWithShape="1">
          <a:blip r:embed="rId3">
            <a:alphaModFix/>
          </a:blip>
          <a:srcRect b="26308" l="0" r="0" t="0"/>
          <a:stretch/>
        </p:blipFill>
        <p:spPr>
          <a:xfrm>
            <a:off x="4268350" y="72187"/>
            <a:ext cx="4746325" cy="4999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25" y="955525"/>
            <a:ext cx="3690675" cy="2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/>
          <p:nvPr/>
        </p:nvSpPr>
        <p:spPr>
          <a:xfrm>
            <a:off x="225600" y="3260325"/>
            <a:ext cx="46212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Quantile Binning/Discretization/Binarization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(transform continuous features into discrete ones)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375" y="3909700"/>
            <a:ext cx="26384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e. Feature Scaling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Standardization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Normalization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Minmax scaling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5" name="Google Shape;1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181" y="1152475"/>
            <a:ext cx="507949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0" y="38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2. Feature Extraction &amp; Construction/Splitting</a:t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PCA, LDA, NN etc.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2" name="Google Shape;19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350" y="1989350"/>
            <a:ext cx="4511876" cy="299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929425"/>
            <a:ext cx="4572000" cy="2814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633650" y="611675"/>
            <a:ext cx="25614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50101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552450"/>
            <a:ext cx="30670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38" y="1938825"/>
            <a:ext cx="326707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050" y="1128375"/>
            <a:ext cx="4972100" cy="74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050" y="2891438"/>
            <a:ext cx="45529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8725" y="152400"/>
            <a:ext cx="1914525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88725" y="1478950"/>
            <a:ext cx="312420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98088" y="2348388"/>
            <a:ext cx="44958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050" y="2614750"/>
            <a:ext cx="3187750" cy="241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788" y="3527088"/>
            <a:ext cx="6372225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3. Feature Selection </a:t>
            </a:r>
            <a:endParaRPr/>
          </a:p>
        </p:txBody>
      </p:sp>
      <p:sp>
        <p:nvSpPr>
          <p:cNvPr id="214" name="Google Shape;214;p31"/>
          <p:cNvSpPr txBox="1"/>
          <p:nvPr>
            <p:ph idx="1" type="body"/>
          </p:nvPr>
        </p:nvSpPr>
        <p:spPr>
          <a:xfrm>
            <a:off x="0" y="572700"/>
            <a:ext cx="9473100" cy="45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 (Stats-based)</a:t>
            </a:r>
            <a:endParaRPr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75" y="1033004"/>
            <a:ext cx="3369100" cy="21212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 txBox="1"/>
          <p:nvPr/>
        </p:nvSpPr>
        <p:spPr>
          <a:xfrm>
            <a:off x="496300" y="3934325"/>
            <a:ext cx="2039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1"/>
          <p:cNvSpPr txBox="1"/>
          <p:nvPr/>
        </p:nvSpPr>
        <p:spPr>
          <a:xfrm>
            <a:off x="-108200" y="3073400"/>
            <a:ext cx="324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Variance Threshold:</a:t>
            </a:r>
            <a:r>
              <a:rPr b="0" i="0" lang="en-GB" sz="1350" u="none" cap="none" strike="noStrike">
                <a:solidFill>
                  <a:srgbClr val="38383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removes all features whose variance doesn’t meet some threshold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31"/>
          <p:cNvPicPr preferRelativeResize="0"/>
          <p:nvPr/>
        </p:nvPicPr>
        <p:blipFill rotWithShape="1">
          <a:blip r:embed="rId4">
            <a:alphaModFix/>
          </a:blip>
          <a:srcRect b="0" l="6785" r="0" t="21457"/>
          <a:stretch/>
        </p:blipFill>
        <p:spPr>
          <a:xfrm>
            <a:off x="349937" y="3858463"/>
            <a:ext cx="2690377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1"/>
          <p:cNvSpPr txBox="1"/>
          <p:nvPr/>
        </p:nvSpPr>
        <p:spPr>
          <a:xfrm>
            <a:off x="4818650" y="108275"/>
            <a:ext cx="38442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Wrapper (Greedy Search based)</a:t>
            </a:r>
            <a:endParaRPr b="0" i="0" sz="15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6125" y="610726"/>
            <a:ext cx="2690375" cy="220418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/>
          <p:nvPr/>
        </p:nvSpPr>
        <p:spPr>
          <a:xfrm>
            <a:off x="4917925" y="2959775"/>
            <a:ext cx="38442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Embedded (Model Training based)</a:t>
            </a:r>
            <a:endParaRPr b="0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9325" y="3817600"/>
            <a:ext cx="358140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1"/>
          <p:cNvSpPr txBox="1"/>
          <p:nvPr/>
        </p:nvSpPr>
        <p:spPr>
          <a:xfrm>
            <a:off x="5147350" y="3416300"/>
            <a:ext cx="3696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Lasso, RF, Gradient boosting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2" y="-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GB"/>
              <a:t>Feature Vectors/Tensors</a:t>
            </a:r>
            <a:endParaRPr/>
          </a:p>
        </p:txBody>
      </p:sp>
      <p:sp>
        <p:nvSpPr>
          <p:cNvPr id="229" name="Google Shape;229;p32"/>
          <p:cNvSpPr txBox="1"/>
          <p:nvPr>
            <p:ph idx="1" type="body"/>
          </p:nvPr>
        </p:nvSpPr>
        <p:spPr>
          <a:xfrm>
            <a:off x="60150" y="807825"/>
            <a:ext cx="7886700" cy="3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-GB" sz="1400">
                <a:solidFill>
                  <a:schemeClr val="dk1"/>
                </a:solidFill>
              </a:rPr>
              <a:t>0D tensor: Scalar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-GB" sz="1400">
                <a:solidFill>
                  <a:schemeClr val="dk1"/>
                </a:solidFill>
              </a:rPr>
              <a:t>1D tensor: Vector: Collection of scalars: Input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-GB" sz="1400">
                <a:solidFill>
                  <a:schemeClr val="dk1"/>
                </a:solidFill>
              </a:rPr>
              <a:t>2D tensor: Matrix: Collection of vectors: Tabular (Input, Output)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-GB" sz="1400">
                <a:solidFill>
                  <a:schemeClr val="dk1"/>
                </a:solidFill>
              </a:rPr>
              <a:t>3D tensor: Collection of matrices: NLP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-GB" sz="1400">
                <a:solidFill>
                  <a:schemeClr val="dk1"/>
                </a:solidFill>
              </a:rPr>
              <a:t>4D tensor: Collection of 3D tensors: Images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-GB" sz="1400">
                <a:solidFill>
                  <a:schemeClr val="dk1"/>
                </a:solidFill>
              </a:rPr>
              <a:t>5D tensor: Video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-GB" sz="1400">
                <a:solidFill>
                  <a:schemeClr val="dk1"/>
                </a:solidFill>
              </a:rPr>
              <a:t>Rank: dim of tensor: no. of axis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230" name="Google Shape;23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8050" y="2108025"/>
            <a:ext cx="2732200" cy="15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125" y="2911250"/>
            <a:ext cx="3335601" cy="13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9232" y="173850"/>
            <a:ext cx="3652819" cy="197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/>
          <p:nvPr/>
        </p:nvSpPr>
        <p:spPr>
          <a:xfrm>
            <a:off x="-1732500" y="1173075"/>
            <a:ext cx="17325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1400" y="3737663"/>
            <a:ext cx="5543550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>
            <p:ph type="title"/>
          </p:nvPr>
        </p:nvSpPr>
        <p:spPr>
          <a:xfrm>
            <a:off x="628652" y="273847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NLP- Text Preprocessing</a:t>
            </a:r>
            <a:endParaRPr/>
          </a:p>
        </p:txBody>
      </p:sp>
      <p:pic>
        <p:nvPicPr>
          <p:cNvPr id="240" name="Google Shape;240;p33" title="Text_Preprocess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08675"/>
            <a:ext cx="8839201" cy="2943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628652" y="273847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CV-Image Preprocessing</a:t>
            </a:r>
            <a:endParaRPr/>
          </a:p>
        </p:txBody>
      </p:sp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628652" y="1369220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