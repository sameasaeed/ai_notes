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Lor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.fntdata"/><Relationship Id="rId25" Type="http://schemas.openxmlformats.org/officeDocument/2006/relationships/font" Target="fonts/Lora-regular.fntdata"/><Relationship Id="rId28" Type="http://schemas.openxmlformats.org/officeDocument/2006/relationships/font" Target="fonts/Lora-boldItalic.fntdata"/><Relationship Id="rId27" Type="http://schemas.openxmlformats.org/officeDocument/2006/relationships/font" Target="fonts/Lor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2e2c28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b2e2c28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b2e2c28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b2e2c28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ibm.com/think/topics/pytorch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826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Performance Optimization of AI models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350">
              <a:solidFill>
                <a:srgbClr val="15171A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400" y="2772125"/>
            <a:ext cx="2652475" cy="17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(Classification)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Accuracy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Precision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Recall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F1-score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AUC-score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(Regression)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Mean Absolute Error (MAE)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Mean Squared Error (MSE)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R-squared (R²) Score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Root Mean Squared Error (RMSE)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(CV)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17725"/>
            <a:ext cx="8520600" cy="3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Object Detection: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IoU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Mean average precision (mAP)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Image </a:t>
            </a:r>
            <a:r>
              <a:rPr b="1" lang="en-GB" sz="1400">
                <a:solidFill>
                  <a:schemeClr val="accent6"/>
                </a:solidFill>
                <a:highlight>
                  <a:schemeClr val="lt1"/>
                </a:highlight>
              </a:rPr>
              <a:t>Segmentation</a:t>
            </a: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: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accent6"/>
                </a:highlight>
              </a:rPr>
              <a:t>Dice coefficient (F1-score)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accent6"/>
                </a:highlight>
              </a:rPr>
              <a:t>Jaccard Index (IoU)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Pixel Accuracy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Image Generation: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Inception Score: Measures the quality of generated images based on the classification confidence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Frechet Distance: Computes the distance between feature representations of real and generated images 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Sliced Wasserstein Distance: Measures the distance between distributions of real and generated sample</a:t>
            </a:r>
            <a:r>
              <a:rPr lang="en-GB" sz="1400"/>
              <a:t>s</a:t>
            </a:r>
            <a:r>
              <a:rPr lang="en-GB" sz="1400">
                <a:solidFill>
                  <a:srgbClr val="262626"/>
                </a:solidFill>
                <a:highlight>
                  <a:srgbClr val="FFFFFF"/>
                </a:highlight>
              </a:rPr>
              <a:t>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725" y="1397925"/>
            <a:ext cx="2432000" cy="23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6042725" y="1089900"/>
            <a:ext cx="26892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Semantic segmentation</a:t>
            </a:r>
            <a:endParaRPr b="1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600" y="432150"/>
            <a:ext cx="4419600" cy="3068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3200" y="523400"/>
            <a:ext cx="4486150" cy="29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144375" y="72200"/>
            <a:ext cx="2093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Face Recognition</a:t>
            </a:r>
            <a:endParaRPr b="1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728400" y="90225"/>
            <a:ext cx="18588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Pose Estimation</a:t>
            </a:r>
            <a:endParaRPr b="1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9075" y="304800"/>
            <a:ext cx="513216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(Var Autoencoders)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50" y="662950"/>
            <a:ext cx="6187975" cy="44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(GANS)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Fidelity: The quality of the generated images (i.e., how realistic they are)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Diversity: A good generator should also produce a good variety of images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Pixel Distance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Feature Distance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Precision &amp; Recall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945" y="3130950"/>
            <a:ext cx="3718026" cy="18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2025" y="1940096"/>
            <a:ext cx="4018150" cy="21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3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Metrics (Diffusion Models)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222" y="1396222"/>
            <a:ext cx="6359425" cy="23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1944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(NLP)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275600" y="485700"/>
            <a:ext cx="85206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Evaluation metrics: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Accuracy, precision, F1 score,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BLEU for translation: n-gram overlap between the output and the reference ground truth sentence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ROUGE for summarization: words a model recall (TP/  TP+FP)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Perplexity: Language Generation models: how confused an NLP model is about next word, derived from cross-entropy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Human Evaluation: Bias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Latency measures the time taken by the system to generate a response.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Efficiency evaluates the computational resources used.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Evaluation Benchmarks/Frameworks: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GLUE test general language understanding.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SQuAD focuses on reading comprehension and question answering.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56862"/>
              <a:buNone/>
            </a:pPr>
            <a:r>
              <a:t/>
            </a:r>
            <a:endParaRPr sz="1350">
              <a:solidFill>
                <a:srgbClr val="171C4D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-19" r="2477" t="0"/>
          <a:stretch/>
        </p:blipFill>
        <p:spPr>
          <a:xfrm rot="5400000">
            <a:off x="-3879138" y="2218763"/>
            <a:ext cx="5980600" cy="13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55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(LLMs)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3">
            <a:alphaModFix/>
          </a:blip>
          <a:srcRect b="0" l="1632" r="0" t="2950"/>
          <a:stretch/>
        </p:blipFill>
        <p:spPr>
          <a:xfrm>
            <a:off x="2210800" y="866275"/>
            <a:ext cx="6933202" cy="40173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848225" y="1831800"/>
            <a:ext cx="13083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Rogue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Bleu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Perplexity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MRR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BERT Score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0" y="47433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https://medium.com/data-science-in-your-pocket/llm-evaluation-metrics-explained-af14f26536d2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369975" y="1353550"/>
            <a:ext cx="27792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Generation Quality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Performance Metrics (Agents)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017725"/>
            <a:ext cx="8520600" cy="4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Accuracy: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Accuracy Rate: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The percentage of correct responses to total attempts.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Task Completion Rate: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The percentage of workflows successfully completed.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Error Rate: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The percentage of requests resulting in errors.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Error Recovery: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The ability to handle errors successfully.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marR="635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Hallucination Detection: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Identifying and minimizing fabricated or incorrect responses. 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Efficiency: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marR="635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Latency: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The time it takes for the agent to respond.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marR="635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Throughput: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The number of queries or tasks the agent can handle per second. 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marR="635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Token Usage: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A measure of resource consumption, particularly for language models, where more tokens can lead to higher costs. 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Char char="●"/>
            </a:pPr>
            <a:r>
              <a:rPr b="1" lang="en-GB" sz="1200">
                <a:solidFill>
                  <a:srgbClr val="001D35"/>
                </a:solidFill>
                <a:highlight>
                  <a:srgbClr val="FFFFFF"/>
                </a:highlight>
              </a:rPr>
              <a:t>Response Time:</a:t>
            </a: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 How quickly an agent can complete a task.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solidFill>
                  <a:srgbClr val="001D35"/>
                </a:solidFill>
                <a:highlight>
                  <a:srgbClr val="FFFFFF"/>
                </a:highlight>
              </a:rPr>
              <a:t>Security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75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200"/>
          </a:p>
        </p:txBody>
      </p:sp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8727" y="445025"/>
            <a:ext cx="4005947" cy="195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1963"/>
            <a:ext cx="8839198" cy="40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68850" y="304800"/>
            <a:ext cx="8520600" cy="4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42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GB" sz="4200"/>
              <a:t>Optimization</a:t>
            </a:r>
            <a:endParaRPr b="1" sz="4200"/>
          </a:p>
        </p:txBody>
      </p:sp>
      <p:sp>
        <p:nvSpPr>
          <p:cNvPr id="143" name="Google Shape;143;p26"/>
          <p:cNvSpPr txBox="1"/>
          <p:nvPr/>
        </p:nvSpPr>
        <p:spPr>
          <a:xfrm>
            <a:off x="0" y="4137000"/>
            <a:ext cx="3000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61616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DeepSpeed, Hugging Face Transformers, JAX, </a:t>
            </a:r>
            <a:r>
              <a:rPr b="0" i="0" lang="en-GB" sz="1200" u="none" cap="none" strike="noStrike">
                <a:solidFill>
                  <a:schemeClr val="hlink"/>
                </a:solidFill>
                <a:highlight>
                  <a:schemeClr val="lt1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PyTorch</a:t>
            </a:r>
            <a:r>
              <a:rPr b="0" i="0" lang="en-GB" sz="1200" u="none" cap="none" strike="noStrike">
                <a:solidFill>
                  <a:srgbClr val="161616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and TensorFlow to improve model performance</a:t>
            </a:r>
            <a:endParaRPr b="0" i="0" sz="1200" u="none" cap="none" strike="noStrike">
              <a:solidFill>
                <a:srgbClr val="161616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Accuracy Optimization (Traditional AI)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Right hardware infrastructure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Data quality: Class-balancing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Fine-tune model selection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Hyperparameter tuning (Grid search, Random search, Bayesian Optimization)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Regularization techniques (L1/L2, dropout, Batch normalization, Early stopping, Noise injection)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Cross validation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Model’s Robustness: 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Validation loss and accuracy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Synthetic noise testing</a:t>
            </a:r>
            <a:r>
              <a:rPr lang="en-GB" sz="1500">
                <a:solidFill>
                  <a:srgbClr val="15171A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Accuracy Optimization (Agentic AI)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Prompt Engg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RAG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Fine Tunin</a:t>
            </a:r>
            <a:r>
              <a:rPr lang="en-GB"/>
              <a:t>g (Full parameter, PEFT, RLHF)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In-context learning: </a:t>
            </a:r>
            <a:r>
              <a:rPr lang="en-GB" sz="150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Prompts</a:t>
            </a:r>
            <a:endParaRPr sz="1500">
              <a:solidFill>
                <a:srgbClr val="242424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Retrieval-based in-context learning: </a:t>
            </a:r>
            <a:r>
              <a:rPr lang="en-GB" sz="150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External source or database</a:t>
            </a:r>
            <a:endParaRPr b="1" sz="1500">
              <a:solidFill>
                <a:srgbClr val="242424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Fine-tuning based learning: </a:t>
            </a:r>
            <a:r>
              <a:rPr lang="en-GB" sz="150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Specific dataset that includes labeled examples of tool usage, decision-making processes, or reasoning steps.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Efficiency optimization: Size of the model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71250" y="533400"/>
            <a:ext cx="8520600" cy="3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Compression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lphaLcPeriod"/>
            </a:pPr>
            <a:r>
              <a:rPr lang="en-GB"/>
              <a:t>Low-rank factorization: Sparsity optimization: SVD: LoRA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/>
              <a:t>Quantization: Lowering the precision of model (LLMs)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Post-training quantization: FP32 to INT8: QLoRA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Quantization-aware-training: 4 bit and lower : 1 bit LLM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c.     Pruning: Removing unnecessary components from model (Games)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325" y="3305500"/>
            <a:ext cx="4448175" cy="18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381000"/>
            <a:ext cx="8520600" cy="4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d. Knowledge distillation: Transfer from larger (teacher) model to smaller (student) model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914" y="2133100"/>
            <a:ext cx="74061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4">
            <a:alphaModFix/>
          </a:blip>
          <a:srcRect b="29840" l="0" r="-46389" t="-35327"/>
          <a:stretch/>
        </p:blipFill>
        <p:spPr>
          <a:xfrm>
            <a:off x="311699" y="153375"/>
            <a:ext cx="11444216" cy="7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/>
        </p:nvSpPr>
        <p:spPr>
          <a:xfrm>
            <a:off x="6090975" y="586550"/>
            <a:ext cx="2741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Bits and Bytes Quantize</a:t>
            </a:r>
            <a:endParaRPr b="0" i="0" sz="1800" u="none" cap="none" strike="noStrike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Monitoring model performance in production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Drift detection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Bias Audits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A/B testing (RLHF)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